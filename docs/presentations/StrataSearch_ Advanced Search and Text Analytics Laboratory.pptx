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B0604020202020204" charset="0"/>
      <p:bold r:id="rId10"/>
      <p:boldItalic r:id="rId11"/>
    </p:embeddedFont>
    <p:embeddedFont>
      <p:font typeface="Inter Black" panose="020B0604020202020204" charset="0"/>
      <p:bold r:id="rId12"/>
      <p:boldItalic r:id="rId13"/>
    </p:embeddedFont>
    <p:embeddedFont>
      <p:font typeface="Inter ExtraBold" panose="020B0604020202020204" charset="0"/>
      <p:bold r:id="rId14"/>
      <p:boldItalic r:id="rId15"/>
    </p:embeddedFont>
    <p:embeddedFont>
      <p:font typeface="Inter Light" panose="020B060402020202020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4" d="100"/>
          <a:sy n="134" d="100"/>
        </p:scale>
        <p:origin x="254" y="1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796fc8e4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796fc8e4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9796fc8e4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9796fc8e4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796fc8e4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9796fc8e4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9796fc8e4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9796fc8e4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9796fc8e4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9796fc8e4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9796fc8e4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9796fc8e4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9796fc8e4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9796fc8e4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9796fc8e4_7_0)">
  <p:cSld name="Generated (g3f9796fc8e4_7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ithub.com/sashank321/A-7_DSA-3_G-7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571500" y="523875"/>
            <a:ext cx="76200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0" dirty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STRATASEARCH</a:t>
            </a:r>
            <a:endParaRPr sz="3400" b="0" dirty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rPr>
              <a:t>ADVANCED SEARCH &amp; TEXT ANALYTICS LABORATORY</a:t>
            </a:r>
            <a:endParaRPr sz="1600" b="1" dirty="0">
              <a:solidFill>
                <a:srgbClr val="CFCFC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100" b="0" dirty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rPr>
              <a:t>An Interactive Platform for Visualizing, Benchmarking, and Comparing Advanced Text Processing Algorithms</a:t>
            </a:r>
            <a:endParaRPr sz="1100" b="0" dirty="0">
              <a:solidFill>
                <a:srgbClr val="D9D9D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571500" y="2619375"/>
            <a:ext cx="3143400" cy="1762200"/>
            <a:chOff x="0" y="0"/>
            <a:chExt cx="3143400" cy="17622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3143400" cy="1762200"/>
            </a:xfrm>
            <a:prstGeom prst="roundRect">
              <a:avLst>
                <a:gd name="adj" fmla="val 3243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190500" y="190500"/>
              <a:ext cx="2762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23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PROJECT TEAM</a:t>
              </a:r>
              <a:endParaRPr sz="723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08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 RITHVIK</a:t>
              </a:r>
              <a:br>
                <a:rPr lang="en" sz="808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723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Roll No: </a:t>
              </a:r>
              <a:r>
                <a:rPr lang="en" sz="723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2510030126 </a:t>
              </a:r>
              <a:r>
                <a:rPr lang="en" sz="723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Section: </a:t>
              </a:r>
              <a:r>
                <a:rPr lang="en" sz="723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A7</a:t>
              </a:r>
              <a:endParaRPr sz="808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808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 Arnavi</a:t>
              </a:r>
              <a:br>
                <a:rPr lang="en" sz="808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</a:br>
              <a:r>
                <a:rPr lang="en" sz="723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Roll No: </a:t>
              </a:r>
              <a:r>
                <a:rPr lang="en" sz="723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2510030040</a:t>
              </a:r>
              <a:r>
                <a:rPr lang="en" sz="723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Section: </a:t>
              </a:r>
              <a:r>
                <a:rPr lang="en" sz="723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A7</a:t>
              </a:r>
              <a:endParaRPr sz="808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808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 Sasank</a:t>
              </a:r>
              <a:br>
                <a:rPr lang="en" sz="808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</a:br>
              <a:r>
                <a:rPr lang="en" sz="723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Roll No: </a:t>
              </a:r>
              <a:r>
                <a:rPr lang="en" sz="723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2510030267 </a:t>
              </a:r>
              <a:r>
                <a:rPr lang="en" sz="723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Section: </a:t>
              </a:r>
              <a:r>
                <a:rPr lang="en" sz="723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A7</a:t>
              </a:r>
              <a:endParaRPr sz="808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3905250" y="2619375"/>
            <a:ext cx="2381400" cy="1762200"/>
            <a:chOff x="0" y="0"/>
            <a:chExt cx="2381400" cy="1762200"/>
          </a:xfrm>
        </p:grpSpPr>
        <p:sp>
          <p:nvSpPr>
            <p:cNvPr id="60" name="Google Shape;60;p14"/>
            <p:cNvSpPr/>
            <p:nvPr/>
          </p:nvSpPr>
          <p:spPr>
            <a:xfrm>
              <a:off x="0" y="0"/>
              <a:ext cx="2381400" cy="1762200"/>
            </a:xfrm>
            <a:prstGeom prst="roundRect">
              <a:avLst>
                <a:gd name="adj" fmla="val 3243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190500" y="190500"/>
              <a:ext cx="2000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PROJECT GUIDE</a:t>
              </a:r>
              <a:endParaRPr sz="85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Aftab Yaseen</a:t>
              </a:r>
              <a:endParaRPr sz="10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Dept. of Computer Science &amp; Engineering</a:t>
              </a:r>
              <a:endParaRPr sz="9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9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</a:br>
              <a:r>
                <a:rPr lang="en" sz="95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KL University</a:t>
              </a:r>
              <a:endParaRPr sz="9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6477000" y="2619375"/>
            <a:ext cx="1714500" cy="1762200"/>
            <a:chOff x="0" y="0"/>
            <a:chExt cx="1714500" cy="1762200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1714500" cy="1762200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95250" y="1095375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KL UNIVERSITY</a:t>
              </a:r>
              <a:endParaRPr sz="75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571500" y="4667250"/>
            <a:ext cx="7620000" cy="285900"/>
            <a:chOff x="571500" y="4667250"/>
            <a:chExt cx="7620000" cy="285900"/>
          </a:xfrm>
        </p:grpSpPr>
        <p:sp>
          <p:nvSpPr>
            <p:cNvPr id="66" name="Google Shape;66;p14"/>
            <p:cNvSpPr txBox="1"/>
            <p:nvPr/>
          </p:nvSpPr>
          <p:spPr>
            <a:xfrm>
              <a:off x="5715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StrataSearch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5715000" y="46672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KL University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475" y="2849913"/>
            <a:ext cx="2310049" cy="577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5"/>
          <p:cNvGrpSpPr/>
          <p:nvPr/>
        </p:nvGrpSpPr>
        <p:grpSpPr>
          <a:xfrm>
            <a:off x="-328254" y="48407"/>
            <a:ext cx="105000" cy="5138700"/>
            <a:chOff x="-450" y="2400"/>
            <a:chExt cx="105000" cy="5138700"/>
          </a:xfrm>
        </p:grpSpPr>
        <p:grpSp>
          <p:nvGrpSpPr>
            <p:cNvPr id="74" name="Google Shape;74;p15"/>
            <p:cNvGrpSpPr/>
            <p:nvPr/>
          </p:nvGrpSpPr>
          <p:grpSpPr>
            <a:xfrm rot="10800000">
              <a:off x="-450" y="114962"/>
              <a:ext cx="105000" cy="4707018"/>
              <a:chOff x="-11550" y="118250"/>
              <a:chExt cx="105000" cy="4867147"/>
            </a:xfrm>
          </p:grpSpPr>
          <p:sp>
            <p:nvSpPr>
              <p:cNvPr id="75" name="Google Shape;75;p15"/>
              <p:cNvSpPr/>
              <p:nvPr/>
            </p:nvSpPr>
            <p:spPr>
              <a:xfrm>
                <a:off x="-10900" y="11825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-10900" y="34810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-10900" y="58210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-10900" y="811925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-10900" y="1050074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-10900" y="1279903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-10900" y="1513902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-10900" y="174372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-10900" y="1977752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-10900" y="2211753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-10900" y="244157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-10900" y="267972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-10900" y="2909549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-11550" y="3134996"/>
                <a:ext cx="1050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-11550" y="3360453"/>
                <a:ext cx="1050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-10900" y="3575049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-10900" y="3804878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-10900" y="4043053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-10900" y="427287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-10900" y="4506872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-10900" y="473670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-10900" y="4970697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97" name="Google Shape;97;p15"/>
            <p:cNvCxnSpPr/>
            <p:nvPr/>
          </p:nvCxnSpPr>
          <p:spPr>
            <a:xfrm>
              <a:off x="103600" y="2400"/>
              <a:ext cx="0" cy="51387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/>
            <p:nvPr/>
          </p:nvSpPr>
          <p:spPr>
            <a:xfrm rot="10800000">
              <a:off x="415" y="5036499"/>
              <a:ext cx="103500" cy="1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A2A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381000" y="4667250"/>
            <a:ext cx="8382000" cy="285900"/>
            <a:chOff x="381000" y="4667250"/>
            <a:chExt cx="8382000" cy="285900"/>
          </a:xfrm>
        </p:grpSpPr>
        <p:sp>
          <p:nvSpPr>
            <p:cNvPr id="100" name="Google Shape;100;p15"/>
            <p:cNvSpPr txBox="1"/>
            <p:nvPr/>
          </p:nvSpPr>
          <p:spPr>
            <a:xfrm>
              <a:off x="3810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StrataSearch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59055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KL University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102" name="Google Shape;102;p15"/>
          <p:cNvSpPr txBox="1"/>
          <p:nvPr/>
        </p:nvSpPr>
        <p:spPr>
          <a:xfrm>
            <a:off x="666750" y="304800"/>
            <a:ext cx="78105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StrataSearch Bridges the Gap Between</a:t>
            </a:r>
            <a:endParaRPr sz="1750" b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750" b="0">
                <a:solidFill>
                  <a:srgbClr val="CFCFCF"/>
                </a:solidFill>
                <a:latin typeface="Inter Black"/>
                <a:ea typeface="Inter Black"/>
                <a:cs typeface="Inter Black"/>
                <a:sym typeface="Inter Black"/>
              </a:rPr>
              <a:t>Theoretical Learning &amp; Practical Implementation</a:t>
            </a:r>
            <a:endParaRPr sz="1750" b="0">
              <a:solidFill>
                <a:srgbClr val="CFCFCF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cxnSp>
        <p:nvCxnSpPr>
          <p:cNvPr id="103" name="Google Shape;103;p15"/>
          <p:cNvCxnSpPr/>
          <p:nvPr/>
        </p:nvCxnSpPr>
        <p:spPr>
          <a:xfrm>
            <a:off x="666750" y="1000125"/>
            <a:ext cx="7810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4" name="Google Shape;104;p15"/>
          <p:cNvGrpSpPr/>
          <p:nvPr/>
        </p:nvGrpSpPr>
        <p:grpSpPr>
          <a:xfrm>
            <a:off x="666750" y="1095375"/>
            <a:ext cx="7810650" cy="809700"/>
            <a:chOff x="666750" y="1095375"/>
            <a:chExt cx="7810650" cy="809700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666750" y="1095375"/>
              <a:ext cx="3714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Motivation</a:t>
              </a:r>
              <a:endParaRPr sz="950" b="1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Conventional search systems only display results. StrataSearch explains the internal working of algorithms through interactive visualization and benchmarking.</a:t>
              </a:r>
              <a:endParaRPr sz="9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4762500" y="1095375"/>
              <a:ext cx="3714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sz="950" b="1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To build an interactive text analytics platform that helps students understand practical applications of Data Structures and Algorithms.</a:t>
              </a:r>
              <a:endParaRPr sz="9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107" name="Google Shape;107;p15"/>
          <p:cNvCxnSpPr/>
          <p:nvPr/>
        </p:nvCxnSpPr>
        <p:spPr>
          <a:xfrm>
            <a:off x="666750" y="1981200"/>
            <a:ext cx="7810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8" name="Google Shape;108;p15"/>
          <p:cNvGrpSpPr/>
          <p:nvPr/>
        </p:nvGrpSpPr>
        <p:grpSpPr>
          <a:xfrm>
            <a:off x="666750" y="2076450"/>
            <a:ext cx="7810500" cy="666900"/>
            <a:chOff x="666750" y="2076450"/>
            <a:chExt cx="7810500" cy="666900"/>
          </a:xfrm>
        </p:grpSpPr>
        <p:sp>
          <p:nvSpPr>
            <p:cNvPr id="109" name="Google Shape;109;p15"/>
            <p:cNvSpPr txBox="1"/>
            <p:nvPr/>
          </p:nvSpPr>
          <p:spPr>
            <a:xfrm>
              <a:off x="666750" y="2076450"/>
              <a:ext cx="1333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Key Features</a:t>
              </a:r>
              <a:endParaRPr sz="950" b="1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Platform capabilities &amp; core tools</a:t>
              </a:r>
              <a:endParaRPr sz="85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grpSp>
          <p:nvGrpSpPr>
            <p:cNvPr id="110" name="Google Shape;110;p15"/>
            <p:cNvGrpSpPr/>
            <p:nvPr/>
          </p:nvGrpSpPr>
          <p:grpSpPr>
            <a:xfrm>
              <a:off x="2190750" y="2076450"/>
              <a:ext cx="6286500" cy="285900"/>
              <a:chOff x="2190750" y="2076450"/>
              <a:chExt cx="6286500" cy="285900"/>
            </a:xfrm>
          </p:grpSpPr>
          <p:sp>
            <p:nvSpPr>
              <p:cNvPr id="111" name="Google Shape;111;p15"/>
              <p:cNvSpPr/>
              <p:nvPr/>
            </p:nvSpPr>
            <p:spPr>
              <a:xfrm>
                <a:off x="2190750" y="20764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 txBox="1"/>
              <p:nvPr/>
            </p:nvSpPr>
            <p:spPr>
              <a:xfrm>
                <a:off x="2190750" y="20764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Smart Search Engine</a:t>
                </a:r>
                <a:endParaRPr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3790950" y="20764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 txBox="1"/>
              <p:nvPr/>
            </p:nvSpPr>
            <p:spPr>
              <a:xfrm>
                <a:off x="3790950" y="20764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Algorithm Visualizer</a:t>
                </a:r>
                <a:endParaRPr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5391150" y="20764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 txBox="1"/>
              <p:nvPr/>
            </p:nvSpPr>
            <p:spPr>
              <a:xfrm>
                <a:off x="5391150" y="20764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Benchmark Dashboard</a:t>
                </a:r>
                <a:endParaRPr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6991350" y="20764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 txBox="1"/>
              <p:nvPr/>
            </p:nvSpPr>
            <p:spPr>
              <a:xfrm>
                <a:off x="6991350" y="20764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Doc Similarity Analyzer</a:t>
                </a:r>
                <a:endParaRPr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19" name="Google Shape;119;p15"/>
            <p:cNvGrpSpPr/>
            <p:nvPr/>
          </p:nvGrpSpPr>
          <p:grpSpPr>
            <a:xfrm>
              <a:off x="2190750" y="2419350"/>
              <a:ext cx="6286500" cy="285900"/>
              <a:chOff x="2190750" y="2419350"/>
              <a:chExt cx="6286500" cy="2859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2190750" y="24193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2190750" y="24193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Citation Graph</a:t>
                </a:r>
                <a:endParaRPr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790950" y="24193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 txBox="1"/>
              <p:nvPr/>
            </p:nvSpPr>
            <p:spPr>
              <a:xfrm>
                <a:off x="3790950" y="24193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Complexity Analyzer</a:t>
                </a:r>
                <a:endParaRPr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5391150" y="24193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 txBox="1"/>
              <p:nvPr/>
            </p:nvSpPr>
            <p:spPr>
              <a:xfrm>
                <a:off x="5391150" y="24193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Dataset Manager</a:t>
                </a:r>
                <a:endParaRPr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6991350" y="2419350"/>
                <a:ext cx="1485900" cy="285900"/>
              </a:xfrm>
              <a:prstGeom prst="roundRect">
                <a:avLst>
                  <a:gd name="adj" fmla="val 10000"/>
                </a:avLst>
              </a:prstGeom>
              <a:solidFill>
                <a:srgbClr val="111111"/>
              </a:solidFill>
              <a:ln w="9525" cap="flat" cmpd="sng">
                <a:solidFill>
                  <a:srgbClr val="CFCFC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5"/>
              <p:cNvSpPr txBox="1"/>
              <p:nvPr/>
            </p:nvSpPr>
            <p:spPr>
              <a:xfrm>
                <a:off x="6991350" y="24193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CFCFCF"/>
                    </a:solidFill>
                    <a:latin typeface="Inter"/>
                    <a:ea typeface="Inter"/>
                    <a:cs typeface="Inter"/>
                    <a:sym typeface="Inter"/>
                  </a:rPr>
                  <a:t>Interactive Platform</a:t>
                </a:r>
                <a:endParaRPr sz="8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128" name="Google Shape;128;p15"/>
          <p:cNvCxnSpPr/>
          <p:nvPr/>
        </p:nvCxnSpPr>
        <p:spPr>
          <a:xfrm>
            <a:off x="666750" y="2857500"/>
            <a:ext cx="7810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9" name="Google Shape;129;p15"/>
          <p:cNvGrpSpPr/>
          <p:nvPr/>
        </p:nvGrpSpPr>
        <p:grpSpPr>
          <a:xfrm>
            <a:off x="666750" y="2952750"/>
            <a:ext cx="7810425" cy="1143000"/>
            <a:chOff x="666750" y="2952750"/>
            <a:chExt cx="7810425" cy="1143000"/>
          </a:xfrm>
        </p:grpSpPr>
        <p:sp>
          <p:nvSpPr>
            <p:cNvPr id="130" name="Google Shape;130;p15"/>
            <p:cNvSpPr txBox="1"/>
            <p:nvPr/>
          </p:nvSpPr>
          <p:spPr>
            <a:xfrm>
              <a:off x="666750" y="2952750"/>
              <a:ext cx="133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Workflow</a:t>
              </a:r>
              <a:endParaRPr sz="950" b="1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Document analysis &amp; processing pipeline</a:t>
              </a:r>
              <a:endParaRPr sz="85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131" name="Google Shape;131;p15"/>
            <p:cNvCxnSpPr/>
            <p:nvPr/>
          </p:nvCxnSpPr>
          <p:spPr>
            <a:xfrm>
              <a:off x="2643188" y="3286125"/>
              <a:ext cx="53817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2" name="Google Shape;132;p15"/>
            <p:cNvSpPr/>
            <p:nvPr/>
          </p:nvSpPr>
          <p:spPr>
            <a:xfrm>
              <a:off x="2528888" y="3171825"/>
              <a:ext cx="228600" cy="228600"/>
            </a:xfrm>
            <a:prstGeom prst="ellipse">
              <a:avLst/>
            </a:prstGeom>
            <a:solidFill>
              <a:srgbClr val="111111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2528888" y="31813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8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2190750" y="3495675"/>
              <a:ext cx="904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Upload Document</a:t>
              </a:r>
              <a:endParaRPr sz="8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605213" y="3171825"/>
              <a:ext cx="228600" cy="228600"/>
            </a:xfrm>
            <a:prstGeom prst="ellipse">
              <a:avLst/>
            </a:prstGeom>
            <a:solidFill>
              <a:srgbClr val="111111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3605213" y="31813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8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3267075" y="3495675"/>
              <a:ext cx="904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Choose Task</a:t>
              </a:r>
              <a:endParaRPr sz="8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4681538" y="3171825"/>
              <a:ext cx="228600" cy="228600"/>
            </a:xfrm>
            <a:prstGeom prst="ellipse">
              <a:avLst/>
            </a:prstGeom>
            <a:solidFill>
              <a:srgbClr val="111111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4681538" y="31813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8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4343400" y="3495675"/>
              <a:ext cx="904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Algorithm Selection</a:t>
              </a:r>
              <a:endParaRPr sz="8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5757863" y="3171825"/>
              <a:ext cx="228600" cy="228600"/>
            </a:xfrm>
            <a:prstGeom prst="ellipse">
              <a:avLst/>
            </a:prstGeom>
            <a:solidFill>
              <a:srgbClr val="111111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 txBox="1"/>
            <p:nvPr/>
          </p:nvSpPr>
          <p:spPr>
            <a:xfrm>
              <a:off x="5757863" y="31813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8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5419725" y="3495675"/>
              <a:ext cx="904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Processing</a:t>
              </a:r>
              <a:endParaRPr sz="8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6834188" y="3171825"/>
              <a:ext cx="228600" cy="228600"/>
            </a:xfrm>
            <a:prstGeom prst="ellipse">
              <a:avLst/>
            </a:prstGeom>
            <a:solidFill>
              <a:srgbClr val="111111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 txBox="1"/>
            <p:nvPr/>
          </p:nvSpPr>
          <p:spPr>
            <a:xfrm>
              <a:off x="6834188" y="31813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sz="8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6496050" y="3495675"/>
              <a:ext cx="904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Visualization</a:t>
              </a:r>
              <a:endParaRPr sz="85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7910513" y="3171825"/>
              <a:ext cx="228600" cy="228600"/>
            </a:xfrm>
            <a:prstGeom prst="ellipse">
              <a:avLst/>
            </a:prstGeom>
            <a:solidFill>
              <a:srgbClr val="111111"/>
            </a:solidFill>
            <a:ln w="14300" cap="flat" cmpd="sng">
              <a:solidFill>
                <a:srgbClr val="CFCF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 txBox="1"/>
            <p:nvPr/>
          </p:nvSpPr>
          <p:spPr>
            <a:xfrm>
              <a:off x="7910513" y="31813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  <a:endParaRPr sz="800" b="1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7572375" y="3495675"/>
              <a:ext cx="904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sz="850" b="1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50" name="Google Shape;150;p15"/>
          <p:cNvCxnSpPr/>
          <p:nvPr/>
        </p:nvCxnSpPr>
        <p:spPr>
          <a:xfrm>
            <a:off x="666750" y="4324350"/>
            <a:ext cx="7810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/>
        </p:nvSpPr>
        <p:spPr>
          <a:xfrm>
            <a:off x="476250" y="33337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Collaborative Approach to Developing an Advanced Text Analytics Laboratory</a:t>
            </a:r>
            <a:endParaRPr sz="18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6" name="Google Shape;156;p16"/>
          <p:cNvGrpSpPr/>
          <p:nvPr/>
        </p:nvGrpSpPr>
        <p:grpSpPr>
          <a:xfrm>
            <a:off x="476250" y="1000125"/>
            <a:ext cx="2524200" cy="2714700"/>
            <a:chOff x="0" y="0"/>
            <a:chExt cx="2524200" cy="271470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2524200" cy="2714700"/>
            </a:xfrm>
            <a:prstGeom prst="roundRect">
              <a:avLst>
                <a:gd name="adj" fmla="val 3018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16"/>
            <p:cNvGrpSpPr/>
            <p:nvPr/>
          </p:nvGrpSpPr>
          <p:grpSpPr>
            <a:xfrm>
              <a:off x="142875" y="142875"/>
              <a:ext cx="523800" cy="523800"/>
              <a:chOff x="0" y="0"/>
              <a:chExt cx="523800" cy="523800"/>
            </a:xfrm>
          </p:grpSpPr>
          <p:sp>
            <p:nvSpPr>
              <p:cNvPr id="159" name="Google Shape;159;p16"/>
              <p:cNvSpPr/>
              <p:nvPr/>
            </p:nvSpPr>
            <p:spPr>
              <a:xfrm>
                <a:off x="0" y="0"/>
                <a:ext cx="523800" cy="523800"/>
              </a:xfrm>
              <a:prstGeom prst="roundRect">
                <a:avLst>
                  <a:gd name="adj" fmla="val 10909"/>
                </a:avLst>
              </a:prstGeom>
              <a:solidFill>
                <a:srgbClr val="1A1A1A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176213" y="123825"/>
                <a:ext cx="171600" cy="171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8A8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142875" y="314325"/>
                <a:ext cx="238200" cy="85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cubicBezTo>
                      <a:pt x="0" y="0"/>
                      <a:pt x="120000" y="0"/>
                      <a:pt x="120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rnd" cmpd="sng">
                <a:solidFill>
                  <a:srgbClr val="8A8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" name="Google Shape;162;p16"/>
            <p:cNvSpPr txBox="1"/>
            <p:nvPr/>
          </p:nvSpPr>
          <p:spPr>
            <a:xfrm>
              <a:off x="762000" y="142875"/>
              <a:ext cx="1619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dirty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Member 01</a:t>
              </a:r>
              <a:endParaRPr sz="850" b="0" dirty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2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Algorithm Dev</a:t>
              </a:r>
              <a:endParaRPr sz="125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63" name="Google Shape;163;p16"/>
            <p:cNvCxnSpPr/>
            <p:nvPr/>
          </p:nvCxnSpPr>
          <p:spPr>
            <a:xfrm>
              <a:off x="142875" y="809625"/>
              <a:ext cx="2238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" name="Google Shape;164;p16"/>
            <p:cNvSpPr txBox="1"/>
            <p:nvPr/>
          </p:nvSpPr>
          <p:spPr>
            <a:xfrm>
              <a:off x="142875" y="933450"/>
              <a:ext cx="2238300" cy="16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14300" marR="0" lvl="0" indent="-1143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Focuses on Smart Search Engine logic &amp; Algorithm Visualizer</a:t>
              </a:r>
              <a:endParaRPr sz="10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114300" marR="0" lvl="0" indent="-11430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Implements string algorithms: Knuth-Morris-Pratt (KMP), Rabin-Karp, Z Algorithm, &amp; Aho-Corasick</a:t>
              </a:r>
              <a:endParaRPr sz="10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3309938" y="1000125"/>
            <a:ext cx="2524200" cy="2714700"/>
            <a:chOff x="0" y="0"/>
            <a:chExt cx="2524200" cy="27147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2524200" cy="2714700"/>
            </a:xfrm>
            <a:prstGeom prst="roundRect">
              <a:avLst>
                <a:gd name="adj" fmla="val 3018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16"/>
            <p:cNvGrpSpPr/>
            <p:nvPr/>
          </p:nvGrpSpPr>
          <p:grpSpPr>
            <a:xfrm>
              <a:off x="142875" y="142875"/>
              <a:ext cx="523800" cy="523800"/>
              <a:chOff x="0" y="0"/>
              <a:chExt cx="523800" cy="523800"/>
            </a:xfrm>
          </p:grpSpPr>
          <p:sp>
            <p:nvSpPr>
              <p:cNvPr id="168" name="Google Shape;168;p16"/>
              <p:cNvSpPr/>
              <p:nvPr/>
            </p:nvSpPr>
            <p:spPr>
              <a:xfrm>
                <a:off x="0" y="0"/>
                <a:ext cx="523800" cy="523800"/>
              </a:xfrm>
              <a:prstGeom prst="roundRect">
                <a:avLst>
                  <a:gd name="adj" fmla="val 10909"/>
                </a:avLst>
              </a:prstGeom>
              <a:solidFill>
                <a:srgbClr val="1A1A1A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6"/>
              <p:cNvSpPr/>
              <p:nvPr/>
            </p:nvSpPr>
            <p:spPr>
              <a:xfrm>
                <a:off x="176213" y="123825"/>
                <a:ext cx="171600" cy="171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8A8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6"/>
              <p:cNvSpPr/>
              <p:nvPr/>
            </p:nvSpPr>
            <p:spPr>
              <a:xfrm>
                <a:off x="142875" y="314325"/>
                <a:ext cx="238200" cy="85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cubicBezTo>
                      <a:pt x="0" y="0"/>
                      <a:pt x="120000" y="0"/>
                      <a:pt x="120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rnd" cmpd="sng">
                <a:solidFill>
                  <a:srgbClr val="8A8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" name="Google Shape;171;p16"/>
            <p:cNvSpPr txBox="1"/>
            <p:nvPr/>
          </p:nvSpPr>
          <p:spPr>
            <a:xfrm>
              <a:off x="762000" y="142875"/>
              <a:ext cx="1619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Member 02</a:t>
              </a:r>
              <a:endParaRPr sz="85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Text Analytics</a:t>
              </a:r>
              <a:endParaRPr sz="12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72" name="Google Shape;172;p16"/>
            <p:cNvCxnSpPr/>
            <p:nvPr/>
          </p:nvCxnSpPr>
          <p:spPr>
            <a:xfrm>
              <a:off x="142875" y="809625"/>
              <a:ext cx="2238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3" name="Google Shape;173;p16"/>
            <p:cNvSpPr txBox="1"/>
            <p:nvPr/>
          </p:nvSpPr>
          <p:spPr>
            <a:xfrm>
              <a:off x="142875" y="933450"/>
              <a:ext cx="2238300" cy="16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14300" marR="0" lvl="0" indent="-1143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Manages Suffix Array, Longest Common Prefix (LCP), &amp; Edit Distance</a:t>
              </a:r>
              <a:endParaRPr sz="10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114300" marR="0" lvl="0" indent="-11430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Develops Document Similarity Analyzer, Research Paper Recommendation, &amp; Citation Graph</a:t>
              </a:r>
              <a:endParaRPr sz="10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74" name="Google Shape;174;p16"/>
          <p:cNvGrpSpPr/>
          <p:nvPr/>
        </p:nvGrpSpPr>
        <p:grpSpPr>
          <a:xfrm>
            <a:off x="6143625" y="1000125"/>
            <a:ext cx="2524200" cy="2714700"/>
            <a:chOff x="0" y="0"/>
            <a:chExt cx="2524200" cy="2714700"/>
          </a:xfrm>
        </p:grpSpPr>
        <p:sp>
          <p:nvSpPr>
            <p:cNvPr id="175" name="Google Shape;175;p16"/>
            <p:cNvSpPr/>
            <p:nvPr/>
          </p:nvSpPr>
          <p:spPr>
            <a:xfrm>
              <a:off x="0" y="0"/>
              <a:ext cx="2524200" cy="2714700"/>
            </a:xfrm>
            <a:prstGeom prst="roundRect">
              <a:avLst>
                <a:gd name="adj" fmla="val 3018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" name="Google Shape;176;p16"/>
            <p:cNvGrpSpPr/>
            <p:nvPr/>
          </p:nvGrpSpPr>
          <p:grpSpPr>
            <a:xfrm>
              <a:off x="142875" y="142875"/>
              <a:ext cx="523800" cy="523800"/>
              <a:chOff x="0" y="0"/>
              <a:chExt cx="523800" cy="523800"/>
            </a:xfrm>
          </p:grpSpPr>
          <p:sp>
            <p:nvSpPr>
              <p:cNvPr id="177" name="Google Shape;177;p16"/>
              <p:cNvSpPr/>
              <p:nvPr/>
            </p:nvSpPr>
            <p:spPr>
              <a:xfrm>
                <a:off x="0" y="0"/>
                <a:ext cx="523800" cy="523800"/>
              </a:xfrm>
              <a:prstGeom prst="roundRect">
                <a:avLst>
                  <a:gd name="adj" fmla="val 10909"/>
                </a:avLst>
              </a:prstGeom>
              <a:solidFill>
                <a:srgbClr val="1A1A1A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6"/>
              <p:cNvSpPr/>
              <p:nvPr/>
            </p:nvSpPr>
            <p:spPr>
              <a:xfrm>
                <a:off x="176213" y="123825"/>
                <a:ext cx="171600" cy="171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8A8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6"/>
              <p:cNvSpPr/>
              <p:nvPr/>
            </p:nvSpPr>
            <p:spPr>
              <a:xfrm>
                <a:off x="142875" y="314325"/>
                <a:ext cx="238200" cy="85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cubicBezTo>
                      <a:pt x="0" y="0"/>
                      <a:pt x="120000" y="0"/>
                      <a:pt x="120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rnd" cmpd="sng">
                <a:solidFill>
                  <a:srgbClr val="8A8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0" name="Google Shape;180;p16"/>
            <p:cNvSpPr txBox="1"/>
            <p:nvPr/>
          </p:nvSpPr>
          <p:spPr>
            <a:xfrm>
              <a:off x="762000" y="142875"/>
              <a:ext cx="1619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Member 03</a:t>
              </a:r>
              <a:endParaRPr sz="85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App Dev</a:t>
              </a:r>
              <a:endParaRPr sz="12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81" name="Google Shape;181;p16"/>
            <p:cNvCxnSpPr/>
            <p:nvPr/>
          </p:nvCxnSpPr>
          <p:spPr>
            <a:xfrm>
              <a:off x="142875" y="809625"/>
              <a:ext cx="2238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2" name="Google Shape;182;p16"/>
            <p:cNvSpPr txBox="1"/>
            <p:nvPr/>
          </p:nvSpPr>
          <p:spPr>
            <a:xfrm>
              <a:off x="142875" y="933450"/>
              <a:ext cx="2238300" cy="16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14300" marR="0" lvl="0" indent="-1143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Engineers React frontend, Java Spring Boot backend, &amp; PostgreSQL database</a:t>
              </a:r>
              <a:endParaRPr sz="10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114300" marR="0" lvl="0" indent="-11430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Manages Benchmark Dashboard, Complexity Analyzer, &amp; Dataset Manager</a:t>
              </a:r>
              <a:endParaRPr sz="10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83" name="Google Shape;183;p16"/>
          <p:cNvGrpSpPr/>
          <p:nvPr/>
        </p:nvGrpSpPr>
        <p:grpSpPr>
          <a:xfrm>
            <a:off x="476250" y="3857625"/>
            <a:ext cx="8191500" cy="619200"/>
            <a:chOff x="0" y="0"/>
            <a:chExt cx="8191500" cy="619200"/>
          </a:xfrm>
        </p:grpSpPr>
        <p:sp>
          <p:nvSpPr>
            <p:cNvPr id="184" name="Google Shape;184;p16"/>
            <p:cNvSpPr/>
            <p:nvPr/>
          </p:nvSpPr>
          <p:spPr>
            <a:xfrm>
              <a:off x="0" y="0"/>
              <a:ext cx="8191500" cy="619200"/>
            </a:xfrm>
            <a:prstGeom prst="roundRect">
              <a:avLst>
                <a:gd name="adj" fmla="val 12307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190500" y="0"/>
              <a:ext cx="18096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Collaborative Focus</a:t>
              </a:r>
              <a:endParaRPr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86" name="Google Shape;186;p16"/>
            <p:cNvCxnSpPr/>
            <p:nvPr/>
          </p:nvCxnSpPr>
          <p:spPr>
            <a:xfrm>
              <a:off x="2143125" y="142875"/>
              <a:ext cx="0" cy="3333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7" name="Google Shape;187;p16"/>
            <p:cNvSpPr txBox="1"/>
            <p:nvPr/>
          </p:nvSpPr>
          <p:spPr>
            <a:xfrm>
              <a:off x="2333625" y="0"/>
              <a:ext cx="56673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Shared ownership of documentation, Git/GitHub version control, end-to-end integration, and final project presentation.</a:t>
              </a:r>
              <a:endParaRPr sz="11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476250" y="4667250"/>
            <a:ext cx="8191500" cy="285900"/>
            <a:chOff x="476250" y="4667250"/>
            <a:chExt cx="8191500" cy="285900"/>
          </a:xfrm>
        </p:grpSpPr>
        <p:sp>
          <p:nvSpPr>
            <p:cNvPr id="189" name="Google Shape;189;p16"/>
            <p:cNvSpPr txBox="1"/>
            <p:nvPr/>
          </p:nvSpPr>
          <p:spPr>
            <a:xfrm>
              <a:off x="47625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StrataSearch</a:t>
              </a:r>
              <a:endParaRPr sz="1000" b="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581025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KL University</a:t>
              </a:r>
              <a:endParaRPr sz="1000" b="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Algorithm Benchmarking Platform</a:t>
            </a:r>
            <a:endParaRPr sz="2400" b="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A0A0A0"/>
                </a:solidFill>
                <a:latin typeface="Inter Light"/>
                <a:ea typeface="Inter Light"/>
                <a:cs typeface="Inter Light"/>
                <a:sym typeface="Inter Light"/>
              </a:rPr>
              <a:t>Delivering a scalable platform for exploring and benchmarking advanced text processing algorithms.</a:t>
            </a:r>
            <a:endParaRPr sz="1100" b="0">
              <a:solidFill>
                <a:srgbClr val="A0A0A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96" name="Google Shape;196;p17"/>
          <p:cNvGrpSpPr/>
          <p:nvPr/>
        </p:nvGrpSpPr>
        <p:grpSpPr>
          <a:xfrm>
            <a:off x="571500" y="1238250"/>
            <a:ext cx="7381950" cy="285900"/>
            <a:chOff x="0" y="0"/>
            <a:chExt cx="7381950" cy="285900"/>
          </a:xfrm>
        </p:grpSpPr>
        <p:sp>
          <p:nvSpPr>
            <p:cNvPr id="197" name="Google Shape;197;p17"/>
            <p:cNvSpPr/>
            <p:nvPr/>
          </p:nvSpPr>
          <p:spPr>
            <a:xfrm>
              <a:off x="0" y="0"/>
              <a:ext cx="1381200" cy="285900"/>
            </a:xfrm>
            <a:prstGeom prst="roundRect">
              <a:avLst>
                <a:gd name="adj" fmla="val 50000"/>
              </a:avLst>
            </a:prstGeom>
            <a:solidFill>
              <a:srgbClr val="121212"/>
            </a:solidFill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Algorithms</a:t>
              </a:r>
              <a:endParaRPr sz="95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638300" y="104775"/>
              <a:ext cx="954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rnd" cmpd="sng">
              <a:solidFill>
                <a:srgbClr val="5252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2000250" y="0"/>
              <a:ext cx="1381200" cy="285900"/>
            </a:xfrm>
            <a:prstGeom prst="roundRect">
              <a:avLst>
                <a:gd name="adj" fmla="val 50000"/>
              </a:avLst>
            </a:prstGeom>
            <a:solidFill>
              <a:srgbClr val="121212"/>
            </a:solidFill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200025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Visualization</a:t>
              </a:r>
              <a:endParaRPr sz="95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638550" y="104775"/>
              <a:ext cx="954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rnd" cmpd="sng">
              <a:solidFill>
                <a:srgbClr val="5252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4000500" y="0"/>
              <a:ext cx="1381200" cy="285900"/>
            </a:xfrm>
            <a:prstGeom prst="roundRect">
              <a:avLst>
                <a:gd name="adj" fmla="val 50000"/>
              </a:avLst>
            </a:prstGeom>
            <a:solidFill>
              <a:srgbClr val="121212"/>
            </a:solidFill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400050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Benchmarking</a:t>
              </a:r>
              <a:endParaRPr sz="95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5638800" y="104775"/>
              <a:ext cx="954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rnd" cmpd="sng">
              <a:solidFill>
                <a:srgbClr val="5252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6000750" y="0"/>
              <a:ext cx="1381200" cy="285900"/>
            </a:xfrm>
            <a:prstGeom prst="roundRect">
              <a:avLst>
                <a:gd name="adj" fmla="val 50000"/>
              </a:avLst>
            </a:prstGeom>
            <a:solidFill>
              <a:srgbClr val="121212"/>
            </a:solidFill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600075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Insights</a:t>
              </a:r>
              <a:endParaRPr sz="95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08" name="Google Shape;208;p17"/>
          <p:cNvGrpSpPr/>
          <p:nvPr/>
        </p:nvGrpSpPr>
        <p:grpSpPr>
          <a:xfrm>
            <a:off x="571500" y="1749842"/>
            <a:ext cx="8038200" cy="2190900"/>
            <a:chOff x="571500" y="1762125"/>
            <a:chExt cx="8038200" cy="2190900"/>
          </a:xfrm>
        </p:grpSpPr>
        <p:grpSp>
          <p:nvGrpSpPr>
            <p:cNvPr id="209" name="Google Shape;209;p17"/>
            <p:cNvGrpSpPr/>
            <p:nvPr/>
          </p:nvGrpSpPr>
          <p:grpSpPr>
            <a:xfrm>
              <a:off x="571500" y="1762125"/>
              <a:ext cx="1857300" cy="2190900"/>
              <a:chOff x="0" y="0"/>
              <a:chExt cx="1857300" cy="2190900"/>
            </a:xfrm>
          </p:grpSpPr>
          <p:sp>
            <p:nvSpPr>
              <p:cNvPr id="210" name="Google Shape;210;p17"/>
              <p:cNvSpPr/>
              <p:nvPr/>
            </p:nvSpPr>
            <p:spPr>
              <a:xfrm>
                <a:off x="0" y="0"/>
                <a:ext cx="1857300" cy="2190900"/>
              </a:xfrm>
              <a:prstGeom prst="roundRect">
                <a:avLst>
                  <a:gd name="adj" fmla="val 4102"/>
                </a:avLst>
              </a:prstGeom>
              <a:solidFill>
                <a:srgbClr val="0D0D0D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0" y="0"/>
                <a:ext cx="18573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7"/>
              <p:cNvSpPr txBox="1"/>
              <p:nvPr/>
            </p:nvSpPr>
            <p:spPr>
              <a:xfrm>
                <a:off x="142875" y="142875"/>
                <a:ext cx="15717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 </a:t>
                </a: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Practical Learning</a:t>
                </a:r>
                <a:b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A3A3A3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Interactive learning and practical implementation of advanced DSA concepts.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3" name="Google Shape;213;p17"/>
            <p:cNvGrpSpPr/>
            <p:nvPr/>
          </p:nvGrpSpPr>
          <p:grpSpPr>
            <a:xfrm>
              <a:off x="2619375" y="1762125"/>
              <a:ext cx="1857300" cy="2190900"/>
              <a:chOff x="0" y="0"/>
              <a:chExt cx="1857300" cy="2190900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0" y="0"/>
                <a:ext cx="1857300" cy="2190900"/>
              </a:xfrm>
              <a:prstGeom prst="roundRect">
                <a:avLst>
                  <a:gd name="adj" fmla="val 4102"/>
                </a:avLst>
              </a:prstGeom>
              <a:solidFill>
                <a:srgbClr val="0D0D0D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0" y="0"/>
                <a:ext cx="18573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7"/>
              <p:cNvSpPr txBox="1"/>
              <p:nvPr/>
            </p:nvSpPr>
            <p:spPr>
              <a:xfrm>
                <a:off x="142875" y="142875"/>
                <a:ext cx="15717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10B98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 </a:t>
                </a: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Search &amp; Similarity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A3A3A3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A3A3A3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Fast document searching and document similarity analysis.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7" name="Google Shape;217;p17"/>
            <p:cNvGrpSpPr/>
            <p:nvPr/>
          </p:nvGrpSpPr>
          <p:grpSpPr>
            <a:xfrm>
              <a:off x="4667250" y="1762125"/>
              <a:ext cx="1857300" cy="2190900"/>
              <a:chOff x="0" y="0"/>
              <a:chExt cx="1857300" cy="2190900"/>
            </a:xfrm>
          </p:grpSpPr>
          <p:sp>
            <p:nvSpPr>
              <p:cNvPr id="218" name="Google Shape;218;p17"/>
              <p:cNvSpPr/>
              <p:nvPr/>
            </p:nvSpPr>
            <p:spPr>
              <a:xfrm>
                <a:off x="0" y="0"/>
                <a:ext cx="1857300" cy="2190900"/>
              </a:xfrm>
              <a:prstGeom prst="roundRect">
                <a:avLst>
                  <a:gd name="adj" fmla="val 4102"/>
                </a:avLst>
              </a:prstGeom>
              <a:solidFill>
                <a:srgbClr val="0D0D0D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0" y="0"/>
                <a:ext cx="18573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7"/>
              <p:cNvSpPr txBox="1"/>
              <p:nvPr/>
            </p:nvSpPr>
            <p:spPr>
              <a:xfrm>
                <a:off x="142875" y="142875"/>
                <a:ext cx="15717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8B5C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 </a:t>
                </a:r>
                <a:r>
                  <a:rPr lang="en" sz="1113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Benchmarking </a:t>
                </a:r>
                <a:endParaRPr sz="1113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5">
                    <a:solidFill>
                      <a:srgbClr val="A3A3A3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                                                 </a:t>
                </a:r>
                <a:r>
                  <a:rPr lang="en" sz="1025" b="0">
                    <a:solidFill>
                      <a:srgbClr val="A3A3A3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Comprehensive algorithm benchmarking comparing runtime, memory, and execution time.</a:t>
                </a:r>
                <a:endParaRPr sz="1275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1" name="Google Shape;221;p17"/>
            <p:cNvGrpSpPr/>
            <p:nvPr/>
          </p:nvGrpSpPr>
          <p:grpSpPr>
            <a:xfrm>
              <a:off x="6715125" y="1762125"/>
              <a:ext cx="1894575" cy="2190900"/>
              <a:chOff x="0" y="0"/>
              <a:chExt cx="1894575" cy="2190900"/>
            </a:xfrm>
          </p:grpSpPr>
          <p:sp>
            <p:nvSpPr>
              <p:cNvPr id="222" name="Google Shape;222;p17"/>
              <p:cNvSpPr/>
              <p:nvPr/>
            </p:nvSpPr>
            <p:spPr>
              <a:xfrm>
                <a:off x="0" y="0"/>
                <a:ext cx="1857300" cy="2190900"/>
              </a:xfrm>
              <a:prstGeom prst="roundRect">
                <a:avLst>
                  <a:gd name="adj" fmla="val 4102"/>
                </a:avLst>
              </a:prstGeom>
              <a:solidFill>
                <a:srgbClr val="0D0D0D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0" y="0"/>
                <a:ext cx="18573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7"/>
              <p:cNvSpPr txBox="1"/>
              <p:nvPr/>
            </p:nvSpPr>
            <p:spPr>
              <a:xfrm>
                <a:off x="142875" y="142875"/>
                <a:ext cx="17517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F59E0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04 </a:t>
                </a: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Educational Support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A3A3A3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Performance visualization and educational support for students.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5" name="Google Shape;225;p17"/>
          <p:cNvGrpSpPr/>
          <p:nvPr/>
        </p:nvGrpSpPr>
        <p:grpSpPr>
          <a:xfrm>
            <a:off x="571500" y="4143375"/>
            <a:ext cx="8001000" cy="500100"/>
            <a:chOff x="0" y="0"/>
            <a:chExt cx="8001000" cy="500100"/>
          </a:xfrm>
        </p:grpSpPr>
        <p:sp>
          <p:nvSpPr>
            <p:cNvPr id="226" name="Google Shape;226;p17"/>
            <p:cNvSpPr/>
            <p:nvPr/>
          </p:nvSpPr>
          <p:spPr>
            <a:xfrm>
              <a:off x="0" y="0"/>
              <a:ext cx="8001000" cy="428700"/>
            </a:xfrm>
            <a:prstGeom prst="roundRect">
              <a:avLst>
                <a:gd name="adj" fmla="val 13333"/>
              </a:avLst>
            </a:prstGeom>
            <a:solidFill>
              <a:srgbClr val="0D0D0D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127974" y="71400"/>
              <a:ext cx="7715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Conclusion:</a:t>
              </a:r>
              <a:r>
                <a:rPr lang="en" sz="1050" b="0" dirty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The platform demonstrates how multiple algorithms work together to solve modern text analytics problems efficiently based on task and dataset characteristics.</a:t>
              </a:r>
              <a:endParaRPr sz="1050" b="0" dirty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28" name="Google Shape;228;p17"/>
          <p:cNvGrpSpPr/>
          <p:nvPr/>
        </p:nvGrpSpPr>
        <p:grpSpPr>
          <a:xfrm>
            <a:off x="571500" y="4714875"/>
            <a:ext cx="8001000" cy="285900"/>
            <a:chOff x="0" y="0"/>
            <a:chExt cx="8001000" cy="285900"/>
          </a:xfrm>
        </p:grpSpPr>
        <p:sp>
          <p:nvSpPr>
            <p:cNvPr id="229" name="Google Shape;229;p17"/>
            <p:cNvSpPr txBox="1"/>
            <p:nvPr/>
          </p:nvSpPr>
          <p:spPr>
            <a:xfrm>
              <a:off x="0" y="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737373"/>
                  </a:solidFill>
                  <a:latin typeface="Inter"/>
                  <a:ea typeface="Inter"/>
                  <a:cs typeface="Inter"/>
                  <a:sym typeface="Inter"/>
                </a:rPr>
                <a:t>StrataSearch</a:t>
              </a:r>
              <a:endParaRPr sz="950" b="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5143500" y="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737373"/>
                  </a:solidFill>
                  <a:latin typeface="Inter"/>
                  <a:ea typeface="Inter"/>
                  <a:cs typeface="Inter"/>
                  <a:sym typeface="Inter"/>
                </a:rPr>
                <a:t>KL University</a:t>
              </a:r>
              <a:endParaRPr sz="950" b="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/>
        </p:nvSpPr>
        <p:spPr>
          <a:xfrm>
            <a:off x="476250" y="476250"/>
            <a:ext cx="2476500" cy="3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REAL-WORLD</a:t>
            </a:r>
            <a:endParaRPr sz="2600" b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2600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IMPACT</a:t>
            </a:r>
            <a:endParaRPr sz="2600" b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marL="0" lvl="0" indent="0" algn="l" rtl="0">
              <a:spcBef>
                <a:spcPts val="1875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rPr>
              <a:t>Applying advanced string processing algorithms to solve real-world text analytics challenges.</a:t>
            </a:r>
            <a:endParaRPr sz="1100" b="0">
              <a:solidFill>
                <a:srgbClr val="D9D9D9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lvl="0" indent="0" algn="l" rtl="0">
              <a:spcBef>
                <a:spcPts val="1875"/>
              </a:spcBef>
              <a:spcAft>
                <a:spcPts val="0"/>
              </a:spcAft>
              <a:buNone/>
            </a:pPr>
            <a:endParaRPr sz="1100">
              <a:solidFill>
                <a:srgbClr val="D9D9D9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u="sng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rPr>
              <a:t>ADDITIONAL APPLICATIONS</a:t>
            </a:r>
            <a:endParaRPr sz="1000" b="1" u="sng">
              <a:solidFill>
                <a:srgbClr val="CFCFC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rPr>
              <a:t>Search Engines • Data Analytics</a:t>
            </a:r>
            <a:endParaRPr sz="1000" b="0">
              <a:solidFill>
                <a:srgbClr val="8A8A8A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lvl="0" indent="0" algn="l" rtl="0">
              <a:spcBef>
                <a:spcPts val="225"/>
              </a:spcBef>
              <a:spcAft>
                <a:spcPts val="375"/>
              </a:spcAft>
              <a:buNone/>
            </a:pPr>
            <a:r>
              <a:rPr lang="en"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rPr>
              <a:t>AI Research</a:t>
            </a:r>
            <a:endParaRPr sz="1000" b="0">
              <a:solidFill>
                <a:srgbClr val="8A8A8A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36" name="Google Shape;236;p18"/>
          <p:cNvGrpSpPr/>
          <p:nvPr/>
        </p:nvGrpSpPr>
        <p:grpSpPr>
          <a:xfrm>
            <a:off x="3238500" y="476250"/>
            <a:ext cx="5429400" cy="3810000"/>
            <a:chOff x="3238500" y="476250"/>
            <a:chExt cx="5429400" cy="3810000"/>
          </a:xfrm>
        </p:grpSpPr>
        <p:cxnSp>
          <p:nvCxnSpPr>
            <p:cNvPr id="237" name="Google Shape;237;p18"/>
            <p:cNvCxnSpPr/>
            <p:nvPr/>
          </p:nvCxnSpPr>
          <p:spPr>
            <a:xfrm>
              <a:off x="3238500" y="4762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8" name="Google Shape;238;p18"/>
            <p:cNvSpPr txBox="1"/>
            <p:nvPr/>
          </p:nvSpPr>
          <p:spPr>
            <a:xfrm>
              <a:off x="3238500" y="5715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Engineering Education</a:t>
              </a:r>
              <a:endParaRPr sz="1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4953000" y="57150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Visualizing complex structures and providing educational support for computer science students.</a:t>
              </a:r>
              <a:endParaRPr sz="10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40" name="Google Shape;240;p18"/>
            <p:cNvCxnSpPr/>
            <p:nvPr/>
          </p:nvCxnSpPr>
          <p:spPr>
            <a:xfrm>
              <a:off x="3238500" y="12382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1" name="Google Shape;241;p18"/>
            <p:cNvSpPr txBox="1"/>
            <p:nvPr/>
          </p:nvSpPr>
          <p:spPr>
            <a:xfrm>
              <a:off x="3238500" y="13335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Research &amp; Libraries</a:t>
              </a:r>
              <a:endParaRPr sz="1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4953000" y="133350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Benchmarking novel text algorithms and analyzing academic databases.</a:t>
              </a:r>
              <a:endParaRPr sz="10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43" name="Google Shape;243;p18"/>
            <p:cNvCxnSpPr/>
            <p:nvPr/>
          </p:nvCxnSpPr>
          <p:spPr>
            <a:xfrm>
              <a:off x="3238500" y="20002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4" name="Google Shape;244;p18"/>
            <p:cNvSpPr txBox="1"/>
            <p:nvPr/>
          </p:nvSpPr>
          <p:spPr>
            <a:xfrm>
              <a:off x="3238500" y="20955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Plagiarism Detection</a:t>
              </a:r>
              <a:endParaRPr sz="1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4953000" y="209550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Finding structural similarity and duplicate detection across large document corpuses.</a:t>
              </a:r>
              <a:endParaRPr sz="10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46" name="Google Shape;246;p18"/>
            <p:cNvCxnSpPr/>
            <p:nvPr/>
          </p:nvCxnSpPr>
          <p:spPr>
            <a:xfrm>
              <a:off x="3238500" y="27622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7" name="Google Shape;247;p18"/>
            <p:cNvSpPr txBox="1"/>
            <p:nvPr/>
          </p:nvSpPr>
          <p:spPr>
            <a:xfrm>
              <a:off x="3238500" y="28575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Enterprise Knowledge</a:t>
              </a:r>
              <a:endParaRPr sz="1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4953000" y="285750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Efficiently navigating unstructured text assets and enterprise search.</a:t>
              </a:r>
              <a:endParaRPr sz="10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49" name="Google Shape;249;p18"/>
            <p:cNvCxnSpPr/>
            <p:nvPr/>
          </p:nvCxnSpPr>
          <p:spPr>
            <a:xfrm>
              <a:off x="3238500" y="35242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0" name="Google Shape;250;p18"/>
            <p:cNvSpPr txBox="1"/>
            <p:nvPr/>
          </p:nvSpPr>
          <p:spPr>
            <a:xfrm>
              <a:off x="3238500" y="36195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Software Engineering</a:t>
              </a:r>
              <a:endParaRPr sz="1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4953000" y="361950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Training engineers in highly optimized search solutions.</a:t>
              </a:r>
              <a:endParaRPr sz="10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52" name="Google Shape;252;p18"/>
            <p:cNvCxnSpPr/>
            <p:nvPr/>
          </p:nvCxnSpPr>
          <p:spPr>
            <a:xfrm>
              <a:off x="3238500" y="42862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53" name="Google Shape;253;p18"/>
          <p:cNvGrpSpPr/>
          <p:nvPr/>
        </p:nvGrpSpPr>
        <p:grpSpPr>
          <a:xfrm>
            <a:off x="381000" y="4667250"/>
            <a:ext cx="8382000" cy="285900"/>
            <a:chOff x="381000" y="4667250"/>
            <a:chExt cx="8382000" cy="285900"/>
          </a:xfrm>
        </p:grpSpPr>
        <p:sp>
          <p:nvSpPr>
            <p:cNvPr id="254" name="Google Shape;254;p18"/>
            <p:cNvSpPr txBox="1"/>
            <p:nvPr/>
          </p:nvSpPr>
          <p:spPr>
            <a:xfrm>
              <a:off x="3810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StrataSearch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255" name="Google Shape;255;p18"/>
            <p:cNvSpPr txBox="1"/>
            <p:nvPr/>
          </p:nvSpPr>
          <p:spPr>
            <a:xfrm>
              <a:off x="59055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KL University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/>
          <p:nvPr/>
        </p:nvSpPr>
        <p:spPr>
          <a:xfrm>
            <a:off x="381000" y="38100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Collaborative Version Control &amp; Project Architecture</a:t>
            </a:r>
            <a:endParaRPr sz="2200" b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grpSp>
        <p:nvGrpSpPr>
          <p:cNvPr id="261" name="Google Shape;261;p19"/>
          <p:cNvGrpSpPr/>
          <p:nvPr/>
        </p:nvGrpSpPr>
        <p:grpSpPr>
          <a:xfrm>
            <a:off x="381000" y="1238250"/>
            <a:ext cx="4095900" cy="3143400"/>
            <a:chOff x="381000" y="1238250"/>
            <a:chExt cx="4095900" cy="3143400"/>
          </a:xfrm>
        </p:grpSpPr>
        <p:sp>
          <p:nvSpPr>
            <p:cNvPr id="262" name="Google Shape;262;p19"/>
            <p:cNvSpPr/>
            <p:nvPr/>
          </p:nvSpPr>
          <p:spPr>
            <a:xfrm>
              <a:off x="381000" y="1238250"/>
              <a:ext cx="4095900" cy="3143400"/>
            </a:xfrm>
            <a:prstGeom prst="roundRect">
              <a:avLst>
                <a:gd name="adj" fmla="val 2424"/>
              </a:avLst>
            </a:prstGeom>
            <a:solidFill>
              <a:srgbClr val="111111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571500" y="1476375"/>
              <a:ext cx="2667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Repository Information</a:t>
              </a:r>
              <a:endParaRPr sz="11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571500" y="1777740"/>
              <a:ext cx="266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Name: A-7_DSA_G-7</a:t>
              </a:r>
              <a:endParaRPr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Link:</a:t>
              </a:r>
              <a:r>
                <a:rPr lang="en" sz="1100" u="sng">
                  <a:solidFill>
                    <a:schemeClr val="hlink"/>
                  </a:solidFill>
                  <a:hlinkClick r:id="rId3"/>
                </a:rPr>
                <a:t>sashank321/A-7_DSA-3_G-7</a:t>
              </a:r>
              <a:r>
                <a:rPr lang="en" sz="1100">
                  <a:solidFill>
                    <a:schemeClr val="dk1"/>
                  </a:solidFill>
                </a:rPr>
                <a:t> </a:t>
              </a:r>
              <a:endParaRPr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5" name="Google Shape;265;p19"/>
            <p:cNvGrpSpPr/>
            <p:nvPr/>
          </p:nvGrpSpPr>
          <p:grpSpPr>
            <a:xfrm>
              <a:off x="3429000" y="1428750"/>
              <a:ext cx="857400" cy="895500"/>
              <a:chOff x="0" y="0"/>
              <a:chExt cx="857400" cy="89550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0" y="0"/>
                <a:ext cx="857400" cy="857400"/>
              </a:xfrm>
              <a:prstGeom prst="roundRect">
                <a:avLst>
                  <a:gd name="adj" fmla="val 6666"/>
                </a:avLst>
              </a:prstGeom>
              <a:solidFill>
                <a:srgbClr val="000000"/>
              </a:solidFill>
              <a:ln w="14300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6200" y="76200"/>
                <a:ext cx="209700" cy="2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123825" y="123825"/>
                <a:ext cx="114300" cy="114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571500" y="76200"/>
                <a:ext cx="209700" cy="2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619125" y="123825"/>
                <a:ext cx="114300" cy="114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6200" y="571500"/>
                <a:ext cx="209700" cy="2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123825" y="619125"/>
                <a:ext cx="114300" cy="114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361950" y="76200"/>
                <a:ext cx="57300" cy="57300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438150" y="133350"/>
                <a:ext cx="57300" cy="57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361950" y="228600"/>
                <a:ext cx="114300" cy="57300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6200" y="361950"/>
                <a:ext cx="57300" cy="114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190500" y="419100"/>
                <a:ext cx="95400" cy="57300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361950" y="361950"/>
                <a:ext cx="133500" cy="13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400050" y="400050"/>
                <a:ext cx="57300" cy="57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571500" y="361950"/>
                <a:ext cx="114300" cy="57300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685800" y="419100"/>
                <a:ext cx="95400" cy="114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361950" y="571500"/>
                <a:ext cx="57300" cy="209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457200" y="647700"/>
                <a:ext cx="133500" cy="57300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628650" y="628650"/>
                <a:ext cx="133500" cy="13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142875" y="762000"/>
                <a:ext cx="571500" cy="133500"/>
              </a:xfrm>
              <a:prstGeom prst="roundRect">
                <a:avLst>
                  <a:gd name="adj" fmla="val 21428"/>
                </a:avLst>
              </a:prstGeom>
              <a:solidFill>
                <a:srgbClr val="111111"/>
              </a:solidFill>
              <a:ln w="9525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 txBox="1"/>
              <p:nvPr/>
            </p:nvSpPr>
            <p:spPr>
              <a:xfrm>
                <a:off x="142875" y="762000"/>
                <a:ext cx="571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20" b="1">
                    <a:solidFill>
                      <a:srgbClr val="8A8A8A"/>
                    </a:solidFill>
                    <a:latin typeface="Inter"/>
                    <a:ea typeface="Inter"/>
                    <a:cs typeface="Inter"/>
                    <a:sym typeface="Inter"/>
                  </a:rPr>
                  <a:t>[QR ]</a:t>
                </a:r>
                <a:endParaRPr sz="42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287" name="Google Shape;287;p19"/>
            <p:cNvCxnSpPr/>
            <p:nvPr/>
          </p:nvCxnSpPr>
          <p:spPr>
            <a:xfrm>
              <a:off x="571500" y="2524125"/>
              <a:ext cx="33339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8" name="Google Shape;288;p19"/>
            <p:cNvSpPr txBox="1"/>
            <p:nvPr/>
          </p:nvSpPr>
          <p:spPr>
            <a:xfrm>
              <a:off x="571500" y="2667000"/>
              <a:ext cx="3333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Development Workflow</a:t>
              </a:r>
              <a:endParaRPr sz="11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571500" y="2952750"/>
              <a:ext cx="3333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1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Utilizing </a:t>
              </a:r>
              <a:r>
                <a:rPr lang="en"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Git and GitHub</a:t>
              </a:r>
              <a:r>
                <a:rPr lang="en" sz="110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for collaborative version control, issue tracking, documentation, and seamless code management across the development team.</a:t>
              </a:r>
              <a:endParaRPr sz="110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90" name="Google Shape;290;p19"/>
          <p:cNvGrpSpPr/>
          <p:nvPr/>
        </p:nvGrpSpPr>
        <p:grpSpPr>
          <a:xfrm>
            <a:off x="4667250" y="1238250"/>
            <a:ext cx="4095900" cy="3143400"/>
            <a:chOff x="4667250" y="1238250"/>
            <a:chExt cx="4095900" cy="3143400"/>
          </a:xfrm>
        </p:grpSpPr>
        <p:sp>
          <p:nvSpPr>
            <p:cNvPr id="291" name="Google Shape;291;p19"/>
            <p:cNvSpPr/>
            <p:nvPr/>
          </p:nvSpPr>
          <p:spPr>
            <a:xfrm>
              <a:off x="4667250" y="1238250"/>
              <a:ext cx="4095900" cy="3143400"/>
            </a:xfrm>
            <a:prstGeom prst="roundRect">
              <a:avLst>
                <a:gd name="adj" fmla="val 2424"/>
              </a:avLst>
            </a:prstGeom>
            <a:solidFill>
              <a:srgbClr val="111111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 txBox="1"/>
            <p:nvPr/>
          </p:nvSpPr>
          <p:spPr>
            <a:xfrm>
              <a:off x="4857750" y="1476375"/>
              <a:ext cx="3714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8A8A8A"/>
                  </a:solidFill>
                  <a:latin typeface="Inter"/>
                  <a:ea typeface="Inter"/>
                  <a:cs typeface="Inter"/>
                  <a:sym typeface="Inter"/>
                </a:rPr>
                <a:t>Project Folder Structure</a:t>
              </a:r>
              <a:endParaRPr sz="1100" b="1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93" name="Google Shape;293;p19"/>
            <p:cNvCxnSpPr/>
            <p:nvPr/>
          </p:nvCxnSpPr>
          <p:spPr>
            <a:xfrm>
              <a:off x="4972050" y="1952625"/>
              <a:ext cx="0" cy="20955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94" name="Google Shape;294;p19"/>
            <p:cNvGrpSpPr/>
            <p:nvPr/>
          </p:nvGrpSpPr>
          <p:grpSpPr>
            <a:xfrm>
              <a:off x="4914900" y="1809750"/>
              <a:ext cx="3657600" cy="238200"/>
              <a:chOff x="57150" y="0"/>
              <a:chExt cx="3657600" cy="238200"/>
            </a:xfrm>
          </p:grpSpPr>
          <p:sp>
            <p:nvSpPr>
              <p:cNvPr id="295" name="Google Shape;295;p19"/>
              <p:cNvSpPr/>
              <p:nvPr/>
            </p:nvSpPr>
            <p:spPr>
              <a:xfrm>
                <a:off x="57150" y="76200"/>
                <a:ext cx="1239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41538" y="0"/>
                    </a:lnTo>
                    <a:lnTo>
                      <a:pt x="55385" y="18000"/>
                    </a:lnTo>
                    <a:lnTo>
                      <a:pt x="120000" y="18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1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 txBox="1"/>
              <p:nvPr/>
            </p:nvSpPr>
            <p:spPr>
              <a:xfrm>
                <a:off x="238125" y="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frontend/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297" name="Google Shape;297;p1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047750" y="109538"/>
                <a:ext cx="8574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8" name="Google Shape;298;p19"/>
              <p:cNvSpPr txBox="1"/>
              <p:nvPr/>
            </p:nvSpPr>
            <p:spPr>
              <a:xfrm>
                <a:off x="2000250" y="0"/>
                <a:ext cx="1714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dirty="0">
                    <a:solidFill>
                      <a:srgbClr val="CFCFCF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React, Tailwind CSS, Chart.js</a:t>
                </a:r>
                <a:endParaRPr sz="1000" b="0" dirty="0">
                  <a:solidFill>
                    <a:srgbClr val="CFCFCF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299" name="Google Shape;299;p19"/>
            <p:cNvGrpSpPr/>
            <p:nvPr/>
          </p:nvGrpSpPr>
          <p:grpSpPr>
            <a:xfrm>
              <a:off x="4914900" y="2238375"/>
              <a:ext cx="3657750" cy="238200"/>
              <a:chOff x="57150" y="0"/>
              <a:chExt cx="3657750" cy="238200"/>
            </a:xfrm>
          </p:grpSpPr>
          <p:cxnSp>
            <p:nvCxnSpPr>
              <p:cNvPr id="300" name="Google Shape;300;p19"/>
              <p:cNvCxnSpPr/>
              <p:nvPr/>
            </p:nvCxnSpPr>
            <p:spPr>
              <a:xfrm>
                <a:off x="114300" y="114300"/>
                <a:ext cx="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2A2A2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01" name="Google Shape;301;p19"/>
              <p:cNvSpPr/>
              <p:nvPr/>
            </p:nvSpPr>
            <p:spPr>
              <a:xfrm>
                <a:off x="57150" y="76200"/>
                <a:ext cx="1239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41538" y="0"/>
                    </a:lnTo>
                    <a:lnTo>
                      <a:pt x="55385" y="18000"/>
                    </a:lnTo>
                    <a:lnTo>
                      <a:pt x="120000" y="18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1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 txBox="1"/>
              <p:nvPr/>
            </p:nvSpPr>
            <p:spPr>
              <a:xfrm>
                <a:off x="238125" y="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backend/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303" name="Google Shape;303;p1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047750" y="109538"/>
                <a:ext cx="13146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4" name="Google Shape;304;p19"/>
              <p:cNvSpPr txBox="1"/>
              <p:nvPr/>
            </p:nvSpPr>
            <p:spPr>
              <a:xfrm>
                <a:off x="2476500" y="0"/>
                <a:ext cx="12384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CFCFCF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Java, Spring Boot</a:t>
                </a:r>
                <a:endParaRPr sz="1000" b="0">
                  <a:solidFill>
                    <a:srgbClr val="CFCFCF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305" name="Google Shape;305;p19"/>
            <p:cNvGrpSpPr/>
            <p:nvPr/>
          </p:nvGrpSpPr>
          <p:grpSpPr>
            <a:xfrm>
              <a:off x="4914900" y="2667000"/>
              <a:ext cx="3657600" cy="238200"/>
              <a:chOff x="57150" y="0"/>
              <a:chExt cx="3657600" cy="238200"/>
            </a:xfrm>
          </p:grpSpPr>
          <p:sp>
            <p:nvSpPr>
              <p:cNvPr id="306" name="Google Shape;306;p19"/>
              <p:cNvSpPr/>
              <p:nvPr/>
            </p:nvSpPr>
            <p:spPr>
              <a:xfrm>
                <a:off x="57150" y="76200"/>
                <a:ext cx="1239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41538" y="0"/>
                    </a:lnTo>
                    <a:lnTo>
                      <a:pt x="55385" y="18000"/>
                    </a:lnTo>
                    <a:lnTo>
                      <a:pt x="120000" y="18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1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 txBox="1"/>
              <p:nvPr/>
            </p:nvSpPr>
            <p:spPr>
              <a:xfrm>
                <a:off x="238125" y="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database/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308" name="Google Shape;308;p1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095375" y="109538"/>
                <a:ext cx="15717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" name="Google Shape;309;p19"/>
              <p:cNvSpPr txBox="1"/>
              <p:nvPr/>
            </p:nvSpPr>
            <p:spPr>
              <a:xfrm>
                <a:off x="2762250" y="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CFCFCF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PostgreSQL</a:t>
                </a:r>
                <a:endParaRPr sz="1000" b="0">
                  <a:solidFill>
                    <a:srgbClr val="CFCFCF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310" name="Google Shape;310;p19"/>
            <p:cNvGrpSpPr/>
            <p:nvPr/>
          </p:nvGrpSpPr>
          <p:grpSpPr>
            <a:xfrm>
              <a:off x="4914900" y="3095625"/>
              <a:ext cx="3657750" cy="238200"/>
              <a:chOff x="57150" y="0"/>
              <a:chExt cx="3657750" cy="238200"/>
            </a:xfrm>
          </p:grpSpPr>
          <p:sp>
            <p:nvSpPr>
              <p:cNvPr id="311" name="Google Shape;311;p19"/>
              <p:cNvSpPr/>
              <p:nvPr/>
            </p:nvSpPr>
            <p:spPr>
              <a:xfrm>
                <a:off x="57150" y="76200"/>
                <a:ext cx="1239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41538" y="0"/>
                    </a:lnTo>
                    <a:lnTo>
                      <a:pt x="55385" y="18000"/>
                    </a:lnTo>
                    <a:lnTo>
                      <a:pt x="120000" y="18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1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 txBox="1"/>
              <p:nvPr/>
            </p:nvSpPr>
            <p:spPr>
              <a:xfrm>
                <a:off x="238125" y="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algorithms/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313" name="Google Shape;313;p1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143000" y="109538"/>
                <a:ext cx="2571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4" name="Google Shape;314;p19"/>
            <p:cNvGrpSpPr/>
            <p:nvPr/>
          </p:nvGrpSpPr>
          <p:grpSpPr>
            <a:xfrm>
              <a:off x="4914900" y="3524250"/>
              <a:ext cx="3657750" cy="238200"/>
              <a:chOff x="57150" y="0"/>
              <a:chExt cx="3657750" cy="238200"/>
            </a:xfrm>
          </p:grpSpPr>
          <p:sp>
            <p:nvSpPr>
              <p:cNvPr id="315" name="Google Shape;315;p19"/>
              <p:cNvSpPr/>
              <p:nvPr/>
            </p:nvSpPr>
            <p:spPr>
              <a:xfrm>
                <a:off x="57150" y="76200"/>
                <a:ext cx="1239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41538" y="0"/>
                    </a:lnTo>
                    <a:lnTo>
                      <a:pt x="55385" y="18000"/>
                    </a:lnTo>
                    <a:lnTo>
                      <a:pt x="120000" y="18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1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 txBox="1"/>
              <p:nvPr/>
            </p:nvSpPr>
            <p:spPr>
              <a:xfrm>
                <a:off x="238125" y="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docs/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317" name="Google Shape;317;p19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762000" y="109538"/>
                <a:ext cx="2952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8" name="Google Shape;318;p19"/>
            <p:cNvGrpSpPr/>
            <p:nvPr/>
          </p:nvGrpSpPr>
          <p:grpSpPr>
            <a:xfrm>
              <a:off x="4914900" y="3952875"/>
              <a:ext cx="3638700" cy="238200"/>
              <a:chOff x="57150" y="0"/>
              <a:chExt cx="3638700" cy="238200"/>
            </a:xfrm>
          </p:grpSpPr>
          <p:sp>
            <p:nvSpPr>
              <p:cNvPr id="319" name="Google Shape;319;p19"/>
              <p:cNvSpPr/>
              <p:nvPr/>
            </p:nvSpPr>
            <p:spPr>
              <a:xfrm>
                <a:off x="57150" y="76200"/>
                <a:ext cx="1239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41538" y="0"/>
                    </a:lnTo>
                    <a:lnTo>
                      <a:pt x="55385" y="18000"/>
                    </a:lnTo>
                    <a:lnTo>
                      <a:pt x="120000" y="18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1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 txBox="1"/>
              <p:nvPr/>
            </p:nvSpPr>
            <p:spPr>
              <a:xfrm>
                <a:off x="238125" y="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assets/</a:t>
                </a:r>
                <a:endParaRPr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321" name="Google Shape;321;p19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857250" y="109538"/>
                <a:ext cx="28386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22" name="Google Shape;322;p19"/>
          <p:cNvGrpSpPr/>
          <p:nvPr/>
        </p:nvGrpSpPr>
        <p:grpSpPr>
          <a:xfrm>
            <a:off x="381000" y="4667250"/>
            <a:ext cx="8382000" cy="285900"/>
            <a:chOff x="381000" y="4667250"/>
            <a:chExt cx="8382000" cy="285900"/>
          </a:xfrm>
        </p:grpSpPr>
        <p:sp>
          <p:nvSpPr>
            <p:cNvPr id="323" name="Google Shape;323;p19"/>
            <p:cNvSpPr txBox="1"/>
            <p:nvPr/>
          </p:nvSpPr>
          <p:spPr>
            <a:xfrm>
              <a:off x="3810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StrataSearch</a:t>
              </a:r>
              <a:endParaRPr sz="9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324" name="Google Shape;324;p19"/>
            <p:cNvSpPr txBox="1"/>
            <p:nvPr/>
          </p:nvSpPr>
          <p:spPr>
            <a:xfrm>
              <a:off x="59055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KL University</a:t>
              </a:r>
              <a:endParaRPr sz="9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325" name="Google Shape;325;p19" title="qrcode_github.co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1125" y="1470550"/>
            <a:ext cx="753875" cy="753875"/>
          </a:xfrm>
          <a:prstGeom prst="rect">
            <a:avLst/>
          </a:prstGeom>
          <a:solidFill>
            <a:srgbClr val="000000"/>
          </a:solidFill>
          <a:ln w="14300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0"/>
          <p:cNvGrpSpPr/>
          <p:nvPr/>
        </p:nvGrpSpPr>
        <p:grpSpPr>
          <a:xfrm>
            <a:off x="-275331" y="2400"/>
            <a:ext cx="105000" cy="5138700"/>
            <a:chOff x="-450" y="2400"/>
            <a:chExt cx="105000" cy="5138700"/>
          </a:xfrm>
        </p:grpSpPr>
        <p:grpSp>
          <p:nvGrpSpPr>
            <p:cNvPr id="331" name="Google Shape;331;p20"/>
            <p:cNvGrpSpPr/>
            <p:nvPr/>
          </p:nvGrpSpPr>
          <p:grpSpPr>
            <a:xfrm rot="10800000">
              <a:off x="-450" y="114962"/>
              <a:ext cx="105000" cy="4707018"/>
              <a:chOff x="-11550" y="118250"/>
              <a:chExt cx="105000" cy="4867147"/>
            </a:xfrm>
          </p:grpSpPr>
          <p:sp>
            <p:nvSpPr>
              <p:cNvPr id="332" name="Google Shape;332;p20"/>
              <p:cNvSpPr/>
              <p:nvPr/>
            </p:nvSpPr>
            <p:spPr>
              <a:xfrm>
                <a:off x="-10900" y="11825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0"/>
              <p:cNvSpPr/>
              <p:nvPr/>
            </p:nvSpPr>
            <p:spPr>
              <a:xfrm>
                <a:off x="-10900" y="34810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0"/>
              <p:cNvSpPr/>
              <p:nvPr/>
            </p:nvSpPr>
            <p:spPr>
              <a:xfrm>
                <a:off x="-10900" y="58210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0"/>
              <p:cNvSpPr/>
              <p:nvPr/>
            </p:nvSpPr>
            <p:spPr>
              <a:xfrm>
                <a:off x="-10900" y="811925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>
                <a:off x="-10900" y="1050074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>
                <a:off x="-10900" y="1279903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0"/>
              <p:cNvSpPr/>
              <p:nvPr/>
            </p:nvSpPr>
            <p:spPr>
              <a:xfrm>
                <a:off x="-10900" y="1513902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0"/>
              <p:cNvSpPr/>
              <p:nvPr/>
            </p:nvSpPr>
            <p:spPr>
              <a:xfrm>
                <a:off x="-10900" y="174372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0"/>
              <p:cNvSpPr/>
              <p:nvPr/>
            </p:nvSpPr>
            <p:spPr>
              <a:xfrm>
                <a:off x="-10900" y="1977752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-10900" y="2211753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0"/>
              <p:cNvSpPr/>
              <p:nvPr/>
            </p:nvSpPr>
            <p:spPr>
              <a:xfrm>
                <a:off x="-10900" y="244157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>
                <a:off x="-10900" y="267972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0"/>
              <p:cNvSpPr/>
              <p:nvPr/>
            </p:nvSpPr>
            <p:spPr>
              <a:xfrm>
                <a:off x="-10900" y="2909549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0"/>
              <p:cNvSpPr/>
              <p:nvPr/>
            </p:nvSpPr>
            <p:spPr>
              <a:xfrm>
                <a:off x="-11550" y="3134996"/>
                <a:ext cx="1050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-11550" y="3360453"/>
                <a:ext cx="1050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-10900" y="3575049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-10900" y="3804878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-10900" y="4043053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-10900" y="4272871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-10900" y="4506872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-10900" y="4736700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-10900" y="4970697"/>
                <a:ext cx="1035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A2A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54" name="Google Shape;354;p20"/>
            <p:cNvCxnSpPr/>
            <p:nvPr/>
          </p:nvCxnSpPr>
          <p:spPr>
            <a:xfrm>
              <a:off x="103600" y="2400"/>
              <a:ext cx="0" cy="51387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5" name="Google Shape;355;p20"/>
            <p:cNvSpPr/>
            <p:nvPr/>
          </p:nvSpPr>
          <p:spPr>
            <a:xfrm rot="10800000">
              <a:off x="415" y="5036499"/>
              <a:ext cx="103500" cy="1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A2A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20"/>
          <p:cNvGrpSpPr/>
          <p:nvPr/>
        </p:nvGrpSpPr>
        <p:grpSpPr>
          <a:xfrm>
            <a:off x="381000" y="4667250"/>
            <a:ext cx="8382000" cy="285900"/>
            <a:chOff x="381000" y="4667250"/>
            <a:chExt cx="8382000" cy="285900"/>
          </a:xfrm>
        </p:grpSpPr>
        <p:sp>
          <p:nvSpPr>
            <p:cNvPr id="357" name="Google Shape;357;p20"/>
            <p:cNvSpPr txBox="1"/>
            <p:nvPr/>
          </p:nvSpPr>
          <p:spPr>
            <a:xfrm>
              <a:off x="3810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StrataSearch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358" name="Google Shape;358;p20"/>
            <p:cNvSpPr txBox="1"/>
            <p:nvPr/>
          </p:nvSpPr>
          <p:spPr>
            <a:xfrm>
              <a:off x="5905500" y="46672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8A8A8A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KL University</a:t>
              </a:r>
              <a:endParaRPr sz="1000" b="0">
                <a:solidFill>
                  <a:srgbClr val="8A8A8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359" name="Google Shape;359;p20"/>
          <p:cNvGrpSpPr/>
          <p:nvPr/>
        </p:nvGrpSpPr>
        <p:grpSpPr>
          <a:xfrm>
            <a:off x="571500" y="428625"/>
            <a:ext cx="8001000" cy="1905000"/>
            <a:chOff x="571500" y="428625"/>
            <a:chExt cx="8001000" cy="1905000"/>
          </a:xfrm>
        </p:grpSpPr>
        <p:sp>
          <p:nvSpPr>
            <p:cNvPr id="360" name="Google Shape;360;p20"/>
            <p:cNvSpPr/>
            <p:nvPr/>
          </p:nvSpPr>
          <p:spPr>
            <a:xfrm>
              <a:off x="571500" y="428625"/>
              <a:ext cx="8001000" cy="1905000"/>
            </a:xfrm>
            <a:prstGeom prst="roundRect">
              <a:avLst>
                <a:gd name="adj" fmla="val 2000"/>
              </a:avLst>
            </a:prstGeom>
            <a:solidFill>
              <a:srgbClr val="111111"/>
            </a:solidFill>
            <a:ln w="9525" cap="flat" cmpd="sng">
              <a:solidFill>
                <a:srgbClr val="2A2A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0"/>
            <p:cNvSpPr txBox="1"/>
            <p:nvPr/>
          </p:nvSpPr>
          <p:spPr>
            <a:xfrm>
              <a:off x="762000" y="571500"/>
              <a:ext cx="762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StrataSearch Supporting References</a:t>
              </a:r>
              <a:endParaRPr sz="1100" b="1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2" name="Google Shape;362;p20"/>
            <p:cNvSpPr txBox="1"/>
            <p:nvPr/>
          </p:nvSpPr>
          <p:spPr>
            <a:xfrm>
              <a:off x="762000" y="876300"/>
              <a:ext cx="7620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</a:t>
              </a:r>
              <a:r>
                <a:rPr lang="en" sz="11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Introduction to Algorithms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— CLRS</a:t>
              </a:r>
              <a:endParaRPr sz="11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</a:t>
              </a:r>
              <a:r>
                <a:rPr lang="en" sz="11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Algorithms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— Jeff Erickson</a:t>
              </a:r>
              <a:endParaRPr sz="11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</a:t>
              </a:r>
              <a:r>
                <a:rPr lang="en" sz="11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Algorithm Design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— Kleinberg &amp; Tardos</a:t>
              </a:r>
              <a:endParaRPr sz="11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50" b="1">
                  <a:solidFill>
                    <a:srgbClr val="CFCFCF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</a:t>
              </a:r>
              <a:r>
                <a:rPr lang="en" sz="115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Technical Documentation:</a:t>
              </a:r>
              <a:r>
                <a:rPr lang="en" sz="1150" b="0">
                  <a:solidFill>
                    <a:srgbClr val="D9D9D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Java, Spring Boot, React, PostgreSQL, and Graphviz.</a:t>
              </a:r>
              <a:endParaRPr sz="1150" b="0">
                <a:solidFill>
                  <a:srgbClr val="D9D9D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363" name="Google Shape;363;p20"/>
          <p:cNvCxnSpPr/>
          <p:nvPr/>
        </p:nvCxnSpPr>
        <p:spPr>
          <a:xfrm>
            <a:off x="571500" y="252412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64" name="Google Shape;364;p20"/>
          <p:cNvGrpSpPr/>
          <p:nvPr/>
        </p:nvGrpSpPr>
        <p:grpSpPr>
          <a:xfrm>
            <a:off x="571500" y="2952750"/>
            <a:ext cx="8001150" cy="1047900"/>
            <a:chOff x="571500" y="2952750"/>
            <a:chExt cx="8001150" cy="1047900"/>
          </a:xfrm>
        </p:grpSpPr>
        <p:sp>
          <p:nvSpPr>
            <p:cNvPr id="365" name="Google Shape;365;p20"/>
            <p:cNvSpPr txBox="1"/>
            <p:nvPr/>
          </p:nvSpPr>
          <p:spPr>
            <a:xfrm>
              <a:off x="571500" y="2952750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00" b="0">
                  <a:solidFill>
                    <a:srgbClr val="FFFFFF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THANK YOU.</a:t>
              </a:r>
              <a:endParaRPr sz="4200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66" name="Google Shape;366;p20"/>
            <p:cNvSpPr txBox="1"/>
            <p:nvPr/>
          </p:nvSpPr>
          <p:spPr>
            <a:xfrm>
              <a:off x="4667250" y="295275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00" b="0">
                  <a:solidFill>
                    <a:srgbClr val="CFCFCF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QUESTIONS?</a:t>
              </a:r>
              <a:endParaRPr sz="4200" b="0">
                <a:solidFill>
                  <a:srgbClr val="CFCFCF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608</Words>
  <Application>Microsoft Office PowerPoint</Application>
  <PresentationFormat>On-screen Show (16:9)</PresentationFormat>
  <Paragraphs>130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Inter</vt:lpstr>
      <vt:lpstr>Inter Medium</vt:lpstr>
      <vt:lpstr>Inter SemiBold</vt:lpstr>
      <vt:lpstr>Arial</vt:lpstr>
      <vt:lpstr>Inter Black</vt:lpstr>
      <vt:lpstr>Inter ExtraBold</vt:lpstr>
      <vt:lpstr>Inter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Sashank Junnuru</dc:creator>
  <cp:lastModifiedBy>Sashank Junnuru</cp:lastModifiedBy>
  <cp:revision>1</cp:revision>
  <dcterms:modified xsi:type="dcterms:W3CDTF">2026-07-30T08:36:07Z</dcterms:modified>
</cp:coreProperties>
</file>