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Roboto" panose="02000000000000000000" pitchFamily="2" charset="0"/>
      <p:regular r:id="rId14"/>
    </p:embeddedFont>
    <p:embeddedFont>
      <p:font typeface="Roboto Bold" panose="020B0604020202020204" charset="0"/>
      <p:regular r:id="rId15"/>
    </p:embeddedFont>
    <p:embeddedFont>
      <p:font typeface="Roboto Mono Light" panose="00000009000000000000" pitchFamily="49" charset="0"/>
      <p:regular r:id="rId16"/>
    </p:embeddedFont>
    <p:embeddedFont>
      <p:font typeface="Roboto Mono Medium" panose="020F0502020204030204" pitchFamily="49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130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6811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StrataSearch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942233"/>
            <a:ext cx="6205971" cy="286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Intelligent Document Search and Analysis Platform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PBL Review – 2  |  17 August 2026</a:t>
            </a:r>
            <a:endParaRPr lang="en-US" sz="1450" dirty="0"/>
          </a:p>
          <a:p>
            <a:pPr>
              <a:lnSpc>
                <a:spcPct val="133000"/>
              </a:lnSpc>
              <a:spcAft>
                <a:spcPts val="1650"/>
              </a:spcAft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Guide:  </a:t>
            </a:r>
            <a:r>
              <a:rPr lang="en-IN" sz="1600" dirty="0">
                <a:solidFill>
                  <a:srgbClr val="FFFFFF"/>
                </a:solidFill>
                <a:latin typeface="Inter Medium"/>
              </a:rPr>
              <a:t>Aftab Yaseen</a:t>
            </a:r>
            <a:r>
              <a:rPr lang="en-IN" sz="1600" dirty="0">
                <a:solidFill>
                  <a:srgbClr val="FFFFFF"/>
                </a:solidFill>
                <a:latin typeface="Inter"/>
              </a:rPr>
              <a:t>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Members: </a:t>
            </a:r>
            <a:endParaRPr lang="en-US" sz="14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09A346-5F65-D898-C5B3-FDF084A6F85D}"/>
              </a:ext>
            </a:extLst>
          </p:cNvPr>
          <p:cNvSpPr txBox="1"/>
          <p:nvPr/>
        </p:nvSpPr>
        <p:spPr>
          <a:xfrm>
            <a:off x="6714915" y="5172055"/>
            <a:ext cx="33337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chemeClr val="bg2"/>
                </a:solidFill>
                <a:latin typeface="Inter Medium"/>
              </a:rPr>
              <a:t>N </a:t>
            </a:r>
            <a:r>
              <a:rPr sz="1400" b="0" i="0" u="none" dirty="0" err="1">
                <a:solidFill>
                  <a:schemeClr val="bg2"/>
                </a:solidFill>
                <a:latin typeface="Inter Medium"/>
              </a:rPr>
              <a:t>Arnav</a:t>
            </a:r>
            <a:r>
              <a:rPr lang="en-US" sz="1400" dirty="0" err="1">
                <a:solidFill>
                  <a:schemeClr val="bg2"/>
                </a:solidFill>
                <a:latin typeface="Inter"/>
              </a:rPr>
              <a:t>i</a:t>
            </a:r>
            <a:r>
              <a:rPr lang="en-US" sz="1400" dirty="0">
                <a:solidFill>
                  <a:schemeClr val="bg2"/>
                </a:solidFill>
                <a:latin typeface="Inter"/>
              </a:rPr>
              <a:t> </a:t>
            </a:r>
            <a:r>
              <a:rPr sz="1400" b="0" i="0" u="none" dirty="0">
                <a:solidFill>
                  <a:schemeClr val="bg2"/>
                </a:solidFill>
                <a:latin typeface="Inter"/>
              </a:rPr>
              <a:t>2510030040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D008C5-7744-ACA4-D730-7BE382A43CE3}"/>
              </a:ext>
            </a:extLst>
          </p:cNvPr>
          <p:cNvSpPr txBox="1"/>
          <p:nvPr/>
        </p:nvSpPr>
        <p:spPr>
          <a:xfrm>
            <a:off x="6714915" y="4930309"/>
            <a:ext cx="33337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chemeClr val="bg2"/>
                </a:solidFill>
                <a:latin typeface="Inter Medium"/>
              </a:rPr>
              <a:t>V Rithvik</a:t>
            </a:r>
            <a:r>
              <a:rPr sz="1400" b="0" i="0" u="none" dirty="0">
                <a:solidFill>
                  <a:schemeClr val="bg2"/>
                </a:solidFill>
                <a:latin typeface="Inter"/>
              </a:rPr>
              <a:t> 2510030126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FE3902-1575-F3AB-0D4A-327E6EC40632}"/>
              </a:ext>
            </a:extLst>
          </p:cNvPr>
          <p:cNvSpPr txBox="1"/>
          <p:nvPr/>
        </p:nvSpPr>
        <p:spPr>
          <a:xfrm>
            <a:off x="6714915" y="4589760"/>
            <a:ext cx="33337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u="none" dirty="0">
                <a:solidFill>
                  <a:schemeClr val="bg2"/>
                </a:solidFill>
                <a:latin typeface="Inter Medium"/>
              </a:rPr>
              <a:t>J Sasank</a:t>
            </a:r>
            <a:r>
              <a:rPr sz="1400" b="0" i="0" u="none" dirty="0">
                <a:solidFill>
                  <a:schemeClr val="bg2"/>
                </a:solidFill>
                <a:latin typeface="Inter"/>
              </a:rPr>
              <a:t> 2510030267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873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10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Why Document Search Needs More Than Keywords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598142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The Challenge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3049191"/>
            <a:ext cx="3519201" cy="2699742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documents contain large amounts of text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Manually finding relevant information across multiple documents is time-consuming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keyword search does not provide deeper pattern and document analysis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search requires string-matching and text-processing algorithms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95787" y="1915120"/>
            <a:ext cx="7170062" cy="4406007"/>
          </a:xfrm>
          <a:prstGeom prst="roundRect">
            <a:avLst>
              <a:gd name="adj" fmla="val 611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675269" y="2085677"/>
            <a:ext cx="68110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Problem Statement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675269" y="2536726"/>
            <a:ext cx="681109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i="1" kern="0" spc="-14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"Develop an efficient platform to search and analyze multiple research documents using DSA-based techniques."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4" y="3288804"/>
            <a:ext cx="6470488" cy="28404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169" y="5143912"/>
            <a:ext cx="1134214" cy="350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33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Multiple Documents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169" y="5544324"/>
            <a:ext cx="1134214" cy="27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kern="0" spc="-14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Collection of research files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127692" y="5100287"/>
            <a:ext cx="1134214" cy="350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33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Relevant Results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27692" y="5500700"/>
            <a:ext cx="1134214" cy="27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kern="0" spc="-14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Ranked, concise matches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544779" y="3586666"/>
            <a:ext cx="1134214" cy="17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33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Search Query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44779" y="3811801"/>
            <a:ext cx="1134214" cy="27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kern="0" spc="-14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Refined keywords or phrases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26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kern="0" spc="-95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Objectives of StrataSearch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414363"/>
            <a:ext cx="3531901" cy="1510407"/>
          </a:xfrm>
          <a:prstGeom prst="roundRect">
            <a:avLst>
              <a:gd name="adj" fmla="val 159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106" y="1574998"/>
            <a:ext cx="481993" cy="482005"/>
          </a:xfrm>
          <a:prstGeom prst="ellipse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659" y="1707555"/>
            <a:ext cx="216887" cy="2168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106" y="2193528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Document Search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106" y="2526407"/>
            <a:ext cx="321063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across uploaded research documents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29897" y="1414363"/>
            <a:ext cx="3531901" cy="1510407"/>
          </a:xfrm>
          <a:prstGeom prst="roundRect">
            <a:avLst>
              <a:gd name="adj" fmla="val 159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490528" y="1574998"/>
            <a:ext cx="481993" cy="482005"/>
          </a:xfrm>
          <a:prstGeom prst="ellipse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081" y="1707555"/>
            <a:ext cx="216887" cy="2168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90528" y="2193528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Pattern Matching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490528" y="2526407"/>
            <a:ext cx="321063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pattern and phrase matching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98319" y="1414363"/>
            <a:ext cx="3531901" cy="1510407"/>
          </a:xfrm>
          <a:prstGeom prst="roundRect">
            <a:avLst>
              <a:gd name="adj" fmla="val 159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158951" y="1574998"/>
            <a:ext cx="481993" cy="482005"/>
          </a:xfrm>
          <a:prstGeom prst="ellipse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8291504" y="1680468"/>
            <a:ext cx="216887" cy="2710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kern="0" spc="-38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158951" y="2193528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Efficient Algorithms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8158951" y="2526407"/>
            <a:ext cx="321063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efficient string-matching algorithms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61475" y="3061295"/>
            <a:ext cx="3531901" cy="1510407"/>
          </a:xfrm>
          <a:prstGeom prst="roundRect">
            <a:avLst>
              <a:gd name="adj" fmla="val 159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22106" y="3221930"/>
            <a:ext cx="481993" cy="482005"/>
          </a:xfrm>
          <a:prstGeom prst="ellipse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659" y="3354487"/>
            <a:ext cx="216887" cy="2168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106" y="3840460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Relevance Ranking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22106" y="4173339"/>
            <a:ext cx="321063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 documents by relevance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329897" y="3061295"/>
            <a:ext cx="3531901" cy="1510407"/>
          </a:xfrm>
          <a:prstGeom prst="roundRect">
            <a:avLst>
              <a:gd name="adj" fmla="val 159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4490528" y="3221930"/>
            <a:ext cx="481993" cy="482005"/>
          </a:xfrm>
          <a:prstGeom prst="ellipse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3081" y="3354487"/>
            <a:ext cx="216887" cy="2168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90528" y="3840460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Similarity Detection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4490528" y="4173339"/>
            <a:ext cx="321063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similar and duplicate documents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7998319" y="3061295"/>
            <a:ext cx="3531901" cy="1510407"/>
          </a:xfrm>
          <a:prstGeom prst="roundRect">
            <a:avLst>
              <a:gd name="adj" fmla="val 159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8158951" y="3221930"/>
            <a:ext cx="481993" cy="482005"/>
          </a:xfrm>
          <a:prstGeom prst="ellipse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1504" y="3354487"/>
            <a:ext cx="216887" cy="2168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58951" y="3840460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Relationship Analysis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8158951" y="4173339"/>
            <a:ext cx="321063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research-paper relationships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661475" y="4708227"/>
            <a:ext cx="10868745" cy="1510407"/>
          </a:xfrm>
          <a:prstGeom prst="roundRect">
            <a:avLst>
              <a:gd name="adj" fmla="val 159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822106" y="4868863"/>
            <a:ext cx="481993" cy="482005"/>
          </a:xfrm>
          <a:prstGeom prst="ellipse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4659" y="5001419"/>
            <a:ext cx="216887" cy="21689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22106" y="5487392"/>
            <a:ext cx="105474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47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Benchmarking</a:t>
            </a:r>
            <a:endParaRPr lang="en-US" sz="1550" dirty="0"/>
          </a:p>
        </p:txBody>
      </p:sp>
      <p:sp>
        <p:nvSpPr>
          <p:cNvPr id="37" name="Text 29"/>
          <p:cNvSpPr/>
          <p:nvPr/>
        </p:nvSpPr>
        <p:spPr>
          <a:xfrm>
            <a:off x="822106" y="5820271"/>
            <a:ext cx="105474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 visualization and performance benchmarking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080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10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Study of Existing Academic Search Platforms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37556"/>
            <a:ext cx="1917850" cy="11852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36045"/>
            <a:ext cx="34807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Google Scholar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1475" y="3818830"/>
            <a:ext cx="3480705" cy="1579364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search and literature discovery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Citation tracking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Related publications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scholarly coverage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396" y="2037556"/>
            <a:ext cx="1917850" cy="11852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55396" y="3436045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Semantic Scholar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355396" y="3818830"/>
            <a:ext cx="3480804" cy="1299270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 research discovery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 recommendations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AI-assisted summaries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Citation relationships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416" y="2037556"/>
            <a:ext cx="1917850" cy="11852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9416" y="3436045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ResearchGate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049416" y="3818830"/>
            <a:ext cx="3480804" cy="1299270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Research-paper discovery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Publication sharing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Citation information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networking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61475" y="5590084"/>
            <a:ext cx="10868745" cy="693837"/>
          </a:xfrm>
          <a:prstGeom prst="roundRect">
            <a:avLst>
              <a:gd name="adj" fmla="val 3882"/>
            </a:avLst>
          </a:prstGeom>
          <a:solidFill>
            <a:srgbClr val="6680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57" y="5832574"/>
            <a:ext cx="224427" cy="1794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44867" y="5805488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systems are strong in research discovery, but their underlying algorithmic processing is not exposed to users.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155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kern="0" spc="-95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Existing Systems vs StrataSearch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606649"/>
            <a:ext cx="10868745" cy="4028480"/>
          </a:xfrm>
          <a:prstGeom prst="roundRect">
            <a:avLst>
              <a:gd name="adj" fmla="val 59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1475" y="2268041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1475" y="2688530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1475" y="3109020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3529509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1475" y="3949998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1475" y="4370487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1475" y="4790976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1475" y="5211465"/>
            <a:ext cx="10868745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8654" y="1701205"/>
            <a:ext cx="332801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68343" y="1701205"/>
            <a:ext cx="9814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Google Scholar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71053" y="1701205"/>
            <a:ext cx="119853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Semantic Scholar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90847" y="1701205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ResearchGate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50011" y="1612999"/>
            <a:ext cx="3473859" cy="655042"/>
          </a:xfrm>
          <a:custGeom>
            <a:avLst/>
            <a:gdLst/>
            <a:ahLst/>
            <a:cxnLst/>
            <a:rect l="l" t="t" r="r" b="b"/>
            <a:pathLst>
              <a:path w="3473859" h="655042">
                <a:moveTo>
                  <a:pt x="0" y="0"/>
                </a:moveTo>
                <a:lnTo>
                  <a:pt x="3453776" y="0"/>
                </a:lnTo>
                <a:arcTo wR="20083" hR="20084" stAng="16200000" swAng="5400000"/>
                <a:lnTo>
                  <a:pt x="3473859" y="655042"/>
                </a:lnTo>
                <a:lnTo>
                  <a:pt x="0" y="655042"/>
                </a:lnTo>
                <a:lnTo>
                  <a:pt x="0" y="0"/>
                </a:lnTo>
                <a:close/>
              </a:path>
            </a:pathLst>
          </a:cu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10642" y="1701205"/>
            <a:ext cx="37621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StrataSearch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8654" y="2359422"/>
            <a:ext cx="332801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Search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68343" y="2359422"/>
            <a:ext cx="159103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71053" y="2359422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90847" y="2359422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10642" y="2359422"/>
            <a:ext cx="37621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8654" y="2779911"/>
            <a:ext cx="332801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/ Phrase Search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68343" y="2779911"/>
            <a:ext cx="159103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71053" y="2779911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90847" y="2779911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10642" y="2779911"/>
            <a:ext cx="37621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8654" y="3200400"/>
            <a:ext cx="332801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String Matching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868343" y="3200400"/>
            <a:ext cx="159103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exposed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71053" y="3200400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exposed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90847" y="3200400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exposed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10642" y="3200400"/>
            <a:ext cx="37621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KMP, Rabin-Karp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8654" y="3620889"/>
            <a:ext cx="332801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Analysis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868343" y="3620889"/>
            <a:ext cx="159103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71053" y="3620889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90847" y="3620889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10642" y="3620889"/>
            <a:ext cx="37621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28654" y="4041378"/>
            <a:ext cx="332801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Similarity / Duplicate Detection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68343" y="4041378"/>
            <a:ext cx="159103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171053" y="4041378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690847" y="4041378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210642" y="4041378"/>
            <a:ext cx="37621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28654" y="4461867"/>
            <a:ext cx="332801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Citation Analysis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868343" y="4461867"/>
            <a:ext cx="159103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171053" y="4461867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690847" y="4461867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210642" y="4461867"/>
            <a:ext cx="37621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28654" y="4882356"/>
            <a:ext cx="332801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 Visualization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3868343" y="4882356"/>
            <a:ext cx="159103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171053" y="4882356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690847" y="4882356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210642" y="4882356"/>
            <a:ext cx="37621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828654" y="5302845"/>
            <a:ext cx="332801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Benchmarking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3868343" y="5302845"/>
            <a:ext cx="159103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5171053" y="5302845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6690847" y="5302845"/>
            <a:ext cx="180811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8210642" y="5302845"/>
            <a:ext cx="37621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13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✓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61475" y="5788720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platforms focus mainly on retrieval, recommendation, and citation, while StrataSearch adds an integrated DSA-driven analysis layer.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92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Identified Research Gap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127151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45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Existing Approach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84338"/>
            <a:ext cx="585951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Discovery + Recommendation + Citation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2875855"/>
            <a:ext cx="5249930" cy="19050"/>
          </a:xfrm>
          <a:prstGeom prst="roundRect">
            <a:avLst>
              <a:gd name="adj" fmla="val 49999"/>
            </a:avLst>
          </a:prstGeom>
          <a:solidFill>
            <a:srgbClr val="E5E0DF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1475" y="3068737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45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Missing Integrated Capabilities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3425924"/>
            <a:ext cx="5249930" cy="2037358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string matching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&amp; phrase search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Relevance ranking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text analysis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Similarity &amp; duplicate detection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Citation analytics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 visualization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benchmarking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640" y="1383804"/>
            <a:ext cx="4199924" cy="42000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86640" y="5719862"/>
            <a:ext cx="524993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is a need for a unified DSA-oriented platform that combines document retrieval, analysis, and algorithmic visualization.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093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StrataSearch — Proposed Approach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074069"/>
            <a:ext cx="945035" cy="13915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5517" y="2263080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Search Engine Core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795517" y="2671763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KMP · Rabin-Karp · Pattern Search · Phrase Search · Relevance Ranking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465612"/>
            <a:ext cx="945035" cy="13915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95517" y="3654623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Advanced Text Analysis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795517" y="4063305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 Algorithm · Aho-Corasick · Suffix Array &amp; LCP · Similarity · Duplicate Detection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857155"/>
            <a:ext cx="945035" cy="13915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95517" y="5046166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Analytics &amp; Visualization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795517" y="5454848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Distance · LCS · Citation Graph · Recommendation · Benchmark Dashboard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816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Algorithms Powering StrataSearch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518047"/>
            <a:ext cx="3564245" cy="3931444"/>
          </a:xfrm>
          <a:prstGeom prst="roundRect">
            <a:avLst>
              <a:gd name="adj" fmla="val 63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1475" y="1903016"/>
            <a:ext cx="35642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1475" y="2502495"/>
            <a:ext cx="35642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1475" y="3101975"/>
            <a:ext cx="35642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3483769"/>
            <a:ext cx="35642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1475" y="3865563"/>
            <a:ext cx="35642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1475" y="4465042"/>
            <a:ext cx="35642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1475" y="4846836"/>
            <a:ext cx="3564245" cy="94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7924" y="1524397"/>
            <a:ext cx="1420579" cy="378619"/>
          </a:xfrm>
          <a:custGeom>
            <a:avLst/>
            <a:gdLst/>
            <a:ahLst/>
            <a:cxnLst/>
            <a:rect l="l" t="t" r="r" b="b"/>
            <a:pathLst>
              <a:path w="1420579" h="378619">
                <a:moveTo>
                  <a:pt x="18902" y="0"/>
                </a:moveTo>
                <a:lnTo>
                  <a:pt x="1420579" y="0"/>
                </a:lnTo>
                <a:lnTo>
                  <a:pt x="1420579" y="378619"/>
                </a:lnTo>
                <a:lnTo>
                  <a:pt x="0" y="378619"/>
                </a:lnTo>
                <a:lnTo>
                  <a:pt x="0" y="18902"/>
                </a:lnTo>
                <a:arcTo wR="18902" hR="18902" stAng="10800000" swAng="5400000"/>
                <a:close/>
              </a:path>
            </a:pathLst>
          </a:cu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9130" y="1603276"/>
            <a:ext cx="17277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12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Algorithm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88502" y="1524397"/>
            <a:ext cx="2130868" cy="378619"/>
          </a:xfrm>
          <a:custGeom>
            <a:avLst/>
            <a:gdLst/>
            <a:ahLst/>
            <a:cxnLst/>
            <a:rect l="l" t="t" r="r" b="b"/>
            <a:pathLst>
              <a:path w="2130868" h="378619">
                <a:moveTo>
                  <a:pt x="0" y="0"/>
                </a:moveTo>
                <a:lnTo>
                  <a:pt x="2111966" y="0"/>
                </a:lnTo>
                <a:arcTo wR="18902" hR="18902" stAng="16200000" swAng="5400000"/>
                <a:lnTo>
                  <a:pt x="2130868" y="378619"/>
                </a:lnTo>
                <a:lnTo>
                  <a:pt x="0" y="378619"/>
                </a:lnTo>
                <a:lnTo>
                  <a:pt x="0" y="0"/>
                </a:lnTo>
                <a:close/>
              </a:path>
            </a:pathLst>
          </a:cu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39708" y="1603276"/>
            <a:ext cx="243804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12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Purpose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9130" y="1985070"/>
            <a:ext cx="17277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12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KMP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39708" y="1985070"/>
            <a:ext cx="182845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exact pattern matching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9130" y="2584549"/>
            <a:ext cx="17277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12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Rabin-Karp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39708" y="2584549"/>
            <a:ext cx="182845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Hash-based pattern matching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9130" y="3184029"/>
            <a:ext cx="17277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12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 Algorithm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239708" y="3184029"/>
            <a:ext cx="243804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preprocessing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9130" y="3565823"/>
            <a:ext cx="17277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12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Aho-Corasick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239708" y="3565823"/>
            <a:ext cx="243804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Multiple-pattern matching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9130" y="3947616"/>
            <a:ext cx="111816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12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Suffix Array + LCP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39708" y="3947616"/>
            <a:ext cx="182845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Substring and prefix analysis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9130" y="4547096"/>
            <a:ext cx="17277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12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Edit Distance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239708" y="4547096"/>
            <a:ext cx="243804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text differences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9130" y="4928890"/>
            <a:ext cx="17277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12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LCS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239708" y="4928890"/>
            <a:ext cx="182845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common text sequences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1475" y="5585520"/>
            <a:ext cx="35642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algorithms are used for different stages of search and document analysis.</a:t>
            </a:r>
            <a:endParaRPr lang="en-US" sz="115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478" y="2195314"/>
            <a:ext cx="5548372" cy="3121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18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Three Technical Modules. One Integrated Platform.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954" y="1401564"/>
            <a:ext cx="6761688" cy="30946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92382" y="3761319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4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92543" y="3761319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4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COMPARE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01399" y="3761319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4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ANALYZE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75476" y="3761319"/>
            <a:ext cx="1269437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kern="0" spc="-4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SEARCH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61475" y="4632226"/>
            <a:ext cx="3542219" cy="1538585"/>
          </a:xfrm>
          <a:prstGeom prst="roundRect">
            <a:avLst>
              <a:gd name="adj" fmla="val 1474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31730" y="4802485"/>
            <a:ext cx="320170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45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01 — Search Engine Core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31730" y="5111254"/>
            <a:ext cx="320170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KMP · Rabin-Karp · Pattern &amp; Phrase Search · Relevance Ranking · Search API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4639" y="4632226"/>
            <a:ext cx="3542318" cy="1538585"/>
          </a:xfrm>
          <a:prstGeom prst="roundRect">
            <a:avLst>
              <a:gd name="adj" fmla="val 1474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494894" y="4802485"/>
            <a:ext cx="32018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45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02 — Advanced Text Analysis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494894" y="5111254"/>
            <a:ext cx="320180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 Algorithm · Aho-Corasick · Suffix Array · LCP · Similarity · Duplicate Detection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87902" y="4632226"/>
            <a:ext cx="3542318" cy="1538585"/>
          </a:xfrm>
          <a:prstGeom prst="roundRect">
            <a:avLst>
              <a:gd name="adj" fmla="val 1474"/>
            </a:avLst>
          </a:prstGeom>
          <a:solidFill>
            <a:srgbClr val="212121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158157" y="4802485"/>
            <a:ext cx="3201808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45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03 — Analytics &amp; Visualization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58157" y="5347494"/>
            <a:ext cx="320180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12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Distance · LCS · Recommendation · Citation Graph · Benchmark Dashboard · Algorithm Visualization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85217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10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33360" y="1602284"/>
            <a:ext cx="3063104" cy="1862138"/>
          </a:xfrm>
          <a:prstGeom prst="roundRect">
            <a:avLst>
              <a:gd name="adj" fmla="val 144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12843" y="1781770"/>
            <a:ext cx="27041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Literature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412843" y="2164556"/>
            <a:ext cx="270413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platforms provide strong academic search, discovery, recommendations, and citation features.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67017" y="1602284"/>
            <a:ext cx="3063203" cy="1862138"/>
          </a:xfrm>
          <a:prstGeom prst="roundRect">
            <a:avLst>
              <a:gd name="adj" fmla="val 144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46499" y="1781770"/>
            <a:ext cx="27042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Gap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646499" y="2164556"/>
            <a:ext cx="270423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lack a unified environment combining DSA-based search, document analysis, visualization, and benchmarking.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360" y="3634978"/>
            <a:ext cx="6296860" cy="1301948"/>
          </a:xfrm>
          <a:prstGeom prst="roundRect">
            <a:avLst>
              <a:gd name="adj" fmla="val 2069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12843" y="3814465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53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StrataSearch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412843" y="4197251"/>
            <a:ext cx="593789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Integrates: Efficient Search + Text Analysis + Similarity + Citation Analytics + Visualization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02633" y="5320705"/>
            <a:ext cx="602758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StrataSearch aims to make research-document retrieval not only efficient, but also </a:t>
            </a:r>
            <a:r>
              <a:rPr lang="en-US" sz="1400" b="1" kern="0" spc="-14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analyzable and explainable</a:t>
            </a:r>
            <a:r>
              <a:rPr lang="en-US" sz="1400" kern="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3360" y="5128816"/>
            <a:ext cx="25399" cy="943967"/>
          </a:xfrm>
          <a:prstGeom prst="roundRect">
            <a:avLst>
              <a:gd name="adj" fmla="val 50001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533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References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9401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89882"/>
            <a:ext cx="3496877" cy="25400"/>
          </a:xfrm>
          <a:prstGeom prst="rect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61475" y="253513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Scholar — Academic Search Platform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47359" y="209401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389882"/>
            <a:ext cx="3496877" cy="25400"/>
          </a:xfrm>
          <a:prstGeom prst="rect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47359" y="253513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Semantic Scholar — AI-Assisted Research Discovery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33244" y="209401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389882"/>
            <a:ext cx="3496877" cy="25400"/>
          </a:xfrm>
          <a:prstGeom prst="rect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33244" y="253513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ResearchGate — Research Sharing &amp; Networking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347067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3766542"/>
            <a:ext cx="3496877" cy="25400"/>
          </a:xfrm>
          <a:prstGeom prst="rect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1475" y="391179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Knuth, Morris &amp; Pratt — </a:t>
            </a:r>
            <a:r>
              <a:rPr lang="en-US" sz="1450" i="1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Pattern Matching in Strings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7359" y="347067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47359" y="3766542"/>
            <a:ext cx="3496877" cy="25400"/>
          </a:xfrm>
          <a:prstGeom prst="rect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47359" y="391179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Karp &amp; Rabin — </a:t>
            </a:r>
            <a:r>
              <a:rPr lang="en-US" sz="1450" i="1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Randomized Pattern-Matching Algorithms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33244" y="347067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06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33244" y="3766542"/>
            <a:ext cx="3496877" cy="25400"/>
          </a:xfrm>
          <a:prstGeom prst="rect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33244" y="391179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Aho &amp; Corasick — </a:t>
            </a:r>
            <a:r>
              <a:rPr lang="en-US" sz="1450" i="1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String Matching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1475" y="484733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07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475" y="5143202"/>
            <a:ext cx="10868646" cy="25400"/>
          </a:xfrm>
          <a:prstGeom prst="rect">
            <a:avLst/>
          </a:prstGeom>
          <a:solidFill>
            <a:srgbClr val="DCF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61475" y="5288459"/>
            <a:ext cx="108686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Gusfield — </a:t>
            </a:r>
            <a:r>
              <a:rPr lang="en-US" sz="1450" i="1" kern="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Algorithms on Strings, Trees, and Sequences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675</Words>
  <Application>Microsoft Office PowerPoint</Application>
  <PresentationFormat>Widescreen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Roboto Mono Medium</vt:lpstr>
      <vt:lpstr>Roboto Bold</vt:lpstr>
      <vt:lpstr>Inter Medium</vt:lpstr>
      <vt:lpstr>Arial</vt:lpstr>
      <vt:lpstr>Roboto Mono Light</vt:lpstr>
      <vt:lpstr>Roboto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ARNAVI</dc:creator>
  <cp:lastModifiedBy>arnavinarsipura@outlook.com</cp:lastModifiedBy>
  <cp:revision>2</cp:revision>
  <dcterms:created xsi:type="dcterms:W3CDTF">2026-08-17T05:49:30Z</dcterms:created>
  <dcterms:modified xsi:type="dcterms:W3CDTF">2026-08-17T05:56:20Z</dcterms:modified>
</cp:coreProperties>
</file>